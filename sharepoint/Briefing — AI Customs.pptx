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DFF5B9-A35D-8B23-A72D-E670C470D66E}" v="1" dt="2026-03-11T14:11:31.109"/>
    <p1510:client id="{6CD28CEB-90F2-584C-8321-C4DB786902A0}" v="8" dt="2026-03-11T14:20:30.0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72"/>
  </p:normalViewPr>
  <p:slideViewPr>
    <p:cSldViewPr snapToGrid="0">
      <p:cViewPr varScale="1">
        <p:scale>
          <a:sx n="150" d="100"/>
          <a:sy n="150" d="100"/>
        </p:scale>
        <p:origin x="71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6829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0" y="256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83680" y="4937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defTabSz="914400" rtl="0" eaLnBrk="1" latinLnBrk="0" hangingPunct="1">
              <a:buNone/>
            </a:pP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384048" y="1389888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6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Customs</a:t>
            </a:r>
            <a:endParaRPr lang="en-US" sz="4600"/>
          </a:p>
          <a:p>
            <a:pPr marL="0" indent="0">
              <a:lnSpc>
                <a:spcPct val="110000"/>
              </a:lnSpc>
              <a:buNone/>
            </a:pPr>
            <a:r>
              <a:rPr lang="en-US" sz="46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Declaration</a:t>
            </a:r>
            <a:endParaRPr lang="en-US" sz="4600"/>
          </a:p>
        </p:txBody>
      </p:sp>
      <p:sp>
        <p:nvSpPr>
          <p:cNvPr id="8" name="Text 6"/>
          <p:cNvSpPr/>
          <p:nvPr/>
        </p:nvSpPr>
        <p:spPr>
          <a:xfrm>
            <a:off x="384048" y="2971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E87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Initial Session Discovery Findings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384048" y="34930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IT Team Session · 10</a:t>
            </a:r>
            <a:r>
              <a:rPr lang="en-US" sz="1000" kern="0" spc="50" baseline="300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000" kern="0" spc="5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March 2026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384048" y="3429000"/>
            <a:ext cx="4114800" cy="0"/>
          </a:xfrm>
          <a:prstGeom prst="line">
            <a:avLst/>
          </a:prstGeom>
          <a:noFill/>
          <a:ln w="9525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809744"/>
            <a:ext cx="9144000" cy="224028"/>
          </a:xfrm>
          <a:prstGeom prst="rect">
            <a:avLst/>
          </a:prstGeom>
          <a:solidFill>
            <a:srgbClr val="E5E3DB"/>
          </a:solidFill>
          <a:ln w="12700">
            <a:solidFill>
              <a:srgbClr val="E5E3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8188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Group × InfinitePL  ·  AI Customs &amp; Trade Intelligence  ·  March 2026</a:t>
            </a:r>
            <a:endParaRPr lang="en-US" sz="700"/>
          </a:p>
        </p:txBody>
      </p:sp>
      <p:sp>
        <p:nvSpPr>
          <p:cNvPr id="4" name="Text 2"/>
          <p:cNvSpPr/>
          <p:nvPr/>
        </p:nvSpPr>
        <p:spPr>
          <a:xfrm>
            <a:off x="8046720" y="1097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800"/>
          </a:p>
        </p:txBody>
      </p:sp>
      <p:sp>
        <p:nvSpPr>
          <p:cNvPr id="6" name="Text 4"/>
          <p:cNvSpPr/>
          <p:nvPr/>
        </p:nvSpPr>
        <p:spPr>
          <a:xfrm>
            <a:off x="365760" y="40233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Customs Clearance Works</a:t>
            </a:r>
            <a:endParaRPr lang="en-US" sz="2600"/>
          </a:p>
        </p:txBody>
      </p:sp>
      <p:sp>
        <p:nvSpPr>
          <p:cNvPr id="7" name="Shape 5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307592"/>
            <a:ext cx="1691640" cy="2377440"/>
          </a:xfrm>
          <a:prstGeom prst="rect">
            <a:avLst/>
          </a:prstGeom>
          <a:solidFill>
            <a:srgbClr val="F0EFE9"/>
          </a:solidFill>
          <a:ln w="12700">
            <a:solidFill>
              <a:srgbClr val="D4D4D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563624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🏪 Merchant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713232" y="1947672"/>
            <a:ext cx="15087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Invoice</a:t>
            </a:r>
            <a:endParaRPr lang="en-US" sz="85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HS Code</a:t>
            </a:r>
            <a:endParaRPr lang="en-US" sz="85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Item-level desc.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Item-level Cost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850">
              <a:solidFill>
                <a:srgbClr val="3D3D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313432" y="224028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invoice</a:t>
            </a:r>
            <a:endParaRPr lang="en-US" sz="750"/>
          </a:p>
        </p:txBody>
      </p:sp>
      <p:sp>
        <p:nvSpPr>
          <p:cNvPr id="15" name="Shape 13"/>
          <p:cNvSpPr/>
          <p:nvPr/>
        </p:nvSpPr>
        <p:spPr>
          <a:xfrm>
            <a:off x="3081528" y="1307592"/>
            <a:ext cx="2459736" cy="2377440"/>
          </a:xfrm>
          <a:prstGeom prst="rect">
            <a:avLst/>
          </a:prstGeom>
          <a:solidFill>
            <a:srgbClr val="F0EFE9"/>
          </a:solidFill>
          <a:ln w="12700">
            <a:solidFill>
              <a:srgbClr val="D4D4D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33572" y="1575700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SPL Group</a:t>
            </a:r>
            <a:endParaRPr lang="en-US" sz="120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34B931C-7FD7-9F79-63CC-447A2DB3D1BB}"/>
              </a:ext>
            </a:extLst>
          </p:cNvPr>
          <p:cNvGrpSpPr/>
          <p:nvPr/>
        </p:nvGrpSpPr>
        <p:grpSpPr>
          <a:xfrm>
            <a:off x="3419856" y="2108268"/>
            <a:ext cx="1828800" cy="1301867"/>
            <a:chOff x="2423160" y="2404316"/>
            <a:chExt cx="1828800" cy="1301867"/>
          </a:xfrm>
        </p:grpSpPr>
        <p:sp>
          <p:nvSpPr>
            <p:cNvPr id="22" name="Shape 20"/>
            <p:cNvSpPr/>
            <p:nvPr/>
          </p:nvSpPr>
          <p:spPr>
            <a:xfrm>
              <a:off x="2423160" y="2440894"/>
              <a:ext cx="1828800" cy="1265289"/>
            </a:xfrm>
            <a:prstGeom prst="rect">
              <a:avLst/>
            </a:prstGeom>
            <a:solidFill>
              <a:srgbClr val="FDF3ED"/>
            </a:solidFill>
            <a:ln w="12700">
              <a:solidFill>
                <a:srgbClr val="F3C4A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2423160" y="2404316"/>
              <a:ext cx="1828800" cy="36576"/>
            </a:xfrm>
            <a:prstGeom prst="rect">
              <a:avLst/>
            </a:prstGeom>
            <a:solidFill>
              <a:srgbClr val="E8722A"/>
            </a:solidFill>
            <a:ln w="12700">
              <a:solidFill>
                <a:srgbClr val="E872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2514600" y="2450038"/>
              <a:ext cx="160934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>
                  <a:solidFill>
                    <a:srgbClr val="11111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🤖 AI Layer</a:t>
              </a:r>
              <a:endParaRPr lang="en-US" sz="1200"/>
            </a:p>
          </p:txBody>
        </p:sp>
      </p:grpSp>
      <p:sp>
        <p:nvSpPr>
          <p:cNvPr id="25" name="Text 23"/>
          <p:cNvSpPr/>
          <p:nvPr/>
        </p:nvSpPr>
        <p:spPr>
          <a:xfrm>
            <a:off x="3511296" y="2528894"/>
            <a:ext cx="1645920" cy="822959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complete HS</a:t>
            </a:r>
            <a:endParaRPr lang="en-US" sz="85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compliant description</a:t>
            </a:r>
            <a:endParaRPr lang="en-US" sz="85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routing:</a:t>
            </a:r>
            <a:endParaRPr lang="en-US" sz="850"/>
          </a:p>
          <a:p>
            <a:pPr marL="0" indent="0" algn="l">
              <a:buNone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&gt;85% → auto-submit</a:t>
            </a:r>
            <a:endParaRPr lang="en-US" sz="850"/>
          </a:p>
          <a:p>
            <a:pPr marL="0" indent="0" algn="l">
              <a:buNone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50–85% → agent review</a:t>
            </a:r>
            <a:endParaRPr lang="en-US" sz="850"/>
          </a:p>
          <a:p>
            <a:pPr marL="0" indent="0" algn="l">
              <a:buNone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&lt;50% → escalate</a:t>
            </a:r>
            <a:endParaRPr lang="en-US" sz="850"/>
          </a:p>
        </p:txBody>
      </p:sp>
      <p:sp>
        <p:nvSpPr>
          <p:cNvPr id="26" name="Text 24"/>
          <p:cNvSpPr/>
          <p:nvPr/>
        </p:nvSpPr>
        <p:spPr>
          <a:xfrm>
            <a:off x="5925312" y="2196846"/>
            <a:ext cx="4754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  Submit Manifest</a:t>
            </a:r>
            <a:endParaRPr lang="en-US" sz="700"/>
          </a:p>
        </p:txBody>
      </p:sp>
      <p:sp>
        <p:nvSpPr>
          <p:cNvPr id="27" name="Text 25"/>
          <p:cNvSpPr/>
          <p:nvPr/>
        </p:nvSpPr>
        <p:spPr>
          <a:xfrm>
            <a:off x="5925312" y="257632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  Submit Declaration</a:t>
            </a:r>
            <a:endParaRPr lang="en-US" sz="700"/>
          </a:p>
        </p:txBody>
      </p:sp>
      <p:sp>
        <p:nvSpPr>
          <p:cNvPr id="31" name="Shape 29"/>
          <p:cNvSpPr/>
          <p:nvPr/>
        </p:nvSpPr>
        <p:spPr>
          <a:xfrm>
            <a:off x="6739128" y="1307592"/>
            <a:ext cx="1472184" cy="2377440"/>
          </a:xfrm>
          <a:prstGeom prst="rect">
            <a:avLst/>
          </a:prstGeom>
          <a:solidFill>
            <a:srgbClr val="F0EFE9"/>
          </a:solidFill>
          <a:ln w="12700">
            <a:solidFill>
              <a:srgbClr val="D4D4D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39128" y="1563624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🏛 ZATCA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6894576" y="1996185"/>
            <a:ext cx="1152144" cy="951043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HS codes</a:t>
            </a:r>
            <a:endParaRPr lang="en-US" sz="85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duties &amp; VAT</a:t>
            </a:r>
            <a:endParaRPr lang="en-US" sz="85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Inspection</a:t>
            </a:r>
            <a:endParaRPr lang="en-US" sz="850"/>
          </a:p>
        </p:txBody>
      </p:sp>
      <p:sp>
        <p:nvSpPr>
          <p:cNvPr id="35" name="Shape 33"/>
          <p:cNvSpPr/>
          <p:nvPr/>
        </p:nvSpPr>
        <p:spPr>
          <a:xfrm>
            <a:off x="3172968" y="3916563"/>
            <a:ext cx="2075688" cy="640080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172968" y="3916562"/>
            <a:ext cx="2075688" cy="457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172968" y="3962283"/>
            <a:ext cx="2075688" cy="172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/>
          </a:p>
        </p:txBody>
      </p:sp>
      <p:sp>
        <p:nvSpPr>
          <p:cNvPr id="38" name="Text 36"/>
          <p:cNvSpPr/>
          <p:nvPr/>
        </p:nvSpPr>
        <p:spPr>
          <a:xfrm>
            <a:off x="3419856" y="413455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Bayan No. + Bayan Copy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(ZATCA clearance document)</a:t>
            </a:r>
            <a:endParaRPr lang="en-US" sz="750"/>
          </a:p>
        </p:txBody>
      </p: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71D50020-093E-D6C3-9EE0-55675655B92F}"/>
              </a:ext>
            </a:extLst>
          </p:cNvPr>
          <p:cNvCxnSpPr>
            <a:cxnSpLocks/>
            <a:stCxn id="31" idx="2"/>
            <a:endCxn id="35" idx="3"/>
          </p:cNvCxnSpPr>
          <p:nvPr/>
        </p:nvCxnSpPr>
        <p:spPr>
          <a:xfrm rot="5400000">
            <a:off x="6086153" y="2847535"/>
            <a:ext cx="551571" cy="2226564"/>
          </a:xfrm>
          <a:prstGeom prst="bentConnector2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4A6CD97-7D9A-0FDA-ADAD-8C0C68B830F2}"/>
              </a:ext>
            </a:extLst>
          </p:cNvPr>
          <p:cNvCxnSpPr>
            <a:cxnSpLocks/>
            <a:stCxn id="15" idx="3"/>
            <a:endCxn id="31" idx="1"/>
          </p:cNvCxnSpPr>
          <p:nvPr/>
        </p:nvCxnSpPr>
        <p:spPr>
          <a:xfrm>
            <a:off x="5541264" y="2496312"/>
            <a:ext cx="119786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6211034-F31B-BAF9-BD1D-EAAC5D406555}"/>
              </a:ext>
            </a:extLst>
          </p:cNvPr>
          <p:cNvCxnSpPr>
            <a:cxnSpLocks/>
            <a:stCxn id="8" idx="3"/>
            <a:endCxn id="15" idx="1"/>
          </p:cNvCxnSpPr>
          <p:nvPr/>
        </p:nvCxnSpPr>
        <p:spPr>
          <a:xfrm>
            <a:off x="2313432" y="2496312"/>
            <a:ext cx="76809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5E3DB"/>
          </a:solidFill>
          <a:ln w="12700">
            <a:solidFill>
              <a:srgbClr val="E5E3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9286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Group × </a:t>
            </a:r>
            <a:r>
              <a:rPr lang="en-US" sz="700" err="1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InfinitePL</a:t>
            </a:r>
            <a:r>
              <a:rPr lang="en-US" sz="70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 Customs &amp; Trade Intelligence  ·  March 2026</a:t>
            </a:r>
            <a:endParaRPr lang="en-US" sz="700"/>
          </a:p>
        </p:txBody>
      </p:sp>
      <p:sp>
        <p:nvSpPr>
          <p:cNvPr id="4" name="Text 2"/>
          <p:cNvSpPr/>
          <p:nvPr/>
        </p:nvSpPr>
        <p:spPr>
          <a:xfrm>
            <a:off x="8046720" y="1097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/>
          </a:p>
        </p:txBody>
      </p:sp>
      <p:sp>
        <p:nvSpPr>
          <p:cNvPr id="6" name="Text 4"/>
          <p:cNvSpPr/>
          <p:nvPr/>
        </p:nvSpPr>
        <p:spPr>
          <a:xfrm>
            <a:off x="365760" y="40233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data</a:t>
            </a:r>
            <a:endParaRPr lang="en-US" sz="2600"/>
          </a:p>
        </p:txBody>
      </p:sp>
      <p:sp>
        <p:nvSpPr>
          <p:cNvPr id="7" name="Shape 5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4023360" cy="36576"/>
          </a:xfrm>
          <a:prstGeom prst="rect">
            <a:avLst/>
          </a:prstGeom>
          <a:solidFill>
            <a:srgbClr val="737373"/>
          </a:solidFill>
          <a:ln w="12700">
            <a:solidFill>
              <a:srgbClr val="7373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1499616"/>
            <a:ext cx="402336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" y="1554480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Invoice PDFs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493776" y="1773936"/>
            <a:ext cx="3803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files  ·  All from XIYIN ECOMMERCE FZE</a:t>
            </a:r>
            <a:endParaRPr lang="en-US" sz="850"/>
          </a:p>
        </p:txBody>
      </p:sp>
      <p:sp>
        <p:nvSpPr>
          <p:cNvPr id="17" name="Shape 15"/>
          <p:cNvSpPr/>
          <p:nvPr/>
        </p:nvSpPr>
        <p:spPr>
          <a:xfrm>
            <a:off x="365760" y="2066544"/>
            <a:ext cx="402336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2121408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XMLs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493776" y="2340864"/>
            <a:ext cx="3803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files  ·  NQD26030942060 / 061 / 062</a:t>
            </a:r>
            <a:endParaRPr lang="en-US" sz="850"/>
          </a:p>
        </p:txBody>
      </p:sp>
      <p:sp>
        <p:nvSpPr>
          <p:cNvPr id="20" name="Shape 18"/>
          <p:cNvSpPr/>
          <p:nvPr/>
        </p:nvSpPr>
        <p:spPr>
          <a:xfrm>
            <a:off x="365760" y="2633472"/>
            <a:ext cx="402336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" y="2688336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Code Mapping Table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493776" y="2907792"/>
            <a:ext cx="3803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XLSX  ·  31K+ rows: ClientCode → Saudi 12-digit</a:t>
            </a:r>
            <a:endParaRPr lang="en-US" sz="850"/>
          </a:p>
        </p:txBody>
      </p:sp>
      <p:sp>
        <p:nvSpPr>
          <p:cNvPr id="23" name="Shape 21"/>
          <p:cNvSpPr/>
          <p:nvPr/>
        </p:nvSpPr>
        <p:spPr>
          <a:xfrm>
            <a:off x="365760" y="3200400"/>
            <a:ext cx="402336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3776" y="3255264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Bayan Samples (PDFs)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493776" y="3474720"/>
            <a:ext cx="3803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files  ·  ZATCA-accepted clearance outputs</a:t>
            </a:r>
            <a:endParaRPr lang="en-US" sz="850"/>
          </a:p>
        </p:txBody>
      </p:sp>
      <p:sp>
        <p:nvSpPr>
          <p:cNvPr id="30" name="Shape 28"/>
          <p:cNvSpPr/>
          <p:nvPr/>
        </p:nvSpPr>
        <p:spPr>
          <a:xfrm>
            <a:off x="4517136" y="1519370"/>
            <a:ext cx="402336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F3C4A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45152" y="1574234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Commercial Invoice sample.xlsx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4645152" y="1793690"/>
            <a:ext cx="3803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353,622 rows (item level)  ·  Jan–Mar 2026 · 21 fields</a:t>
            </a:r>
            <a:endParaRPr lang="en-US" sz="850"/>
          </a:p>
        </p:txBody>
      </p:sp>
      <p:sp>
        <p:nvSpPr>
          <p:cNvPr id="33" name="Shape 31"/>
          <p:cNvSpPr/>
          <p:nvPr/>
        </p:nvSpPr>
        <p:spPr>
          <a:xfrm>
            <a:off x="4517136" y="2086298"/>
            <a:ext cx="402336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F3C4A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45152" y="2141162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 unique merchants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4645152" y="2360618"/>
            <a:ext cx="3803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31,017 waybills  ·  Multi-merchant, multi-category</a:t>
            </a:r>
            <a:endParaRPr lang="en-US" sz="850"/>
          </a:p>
        </p:txBody>
      </p:sp>
      <p:sp>
        <p:nvSpPr>
          <p:cNvPr id="36" name="Shape 34"/>
          <p:cNvSpPr/>
          <p:nvPr/>
        </p:nvSpPr>
        <p:spPr>
          <a:xfrm>
            <a:off x="4517136" y="2653226"/>
            <a:ext cx="402336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F3C4A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45152" y="2708090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data fields</a:t>
            </a:r>
            <a:endParaRPr lang="en-US" sz="1000"/>
          </a:p>
        </p:txBody>
      </p:sp>
      <p:sp>
        <p:nvSpPr>
          <p:cNvPr id="38" name="Text 36"/>
          <p:cNvSpPr/>
          <p:nvPr/>
        </p:nvSpPr>
        <p:spPr>
          <a:xfrm>
            <a:off x="4645152" y="2927546"/>
            <a:ext cx="3803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HS code, description, price, origin  ·  Full invoice line data</a:t>
            </a:r>
            <a:endParaRPr lang="en-US" sz="8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5E3DB"/>
          </a:solidFill>
          <a:ln w="12700">
            <a:solidFill>
              <a:srgbClr val="E5E3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9286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Group × </a:t>
            </a:r>
            <a:r>
              <a:rPr lang="en-US" sz="700" err="1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InfinitePL</a:t>
            </a:r>
            <a:r>
              <a:rPr lang="en-US" sz="70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 Customs &amp; Trade Intelligence  ·  March 2026</a:t>
            </a:r>
            <a:endParaRPr lang="en-US" sz="700"/>
          </a:p>
        </p:txBody>
      </p:sp>
      <p:sp>
        <p:nvSpPr>
          <p:cNvPr id="4" name="Text 2"/>
          <p:cNvSpPr/>
          <p:nvPr/>
        </p:nvSpPr>
        <p:spPr>
          <a:xfrm>
            <a:off x="8046720" y="1097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1 — HS CODE QUALITY</a:t>
            </a:r>
            <a:endParaRPr lang="en-US" sz="800"/>
          </a:p>
        </p:txBody>
      </p:sp>
      <p:sp>
        <p:nvSpPr>
          <p:cNvPr id="6" name="Text 4"/>
          <p:cNvSpPr/>
          <p:nvPr/>
        </p:nvSpPr>
        <p:spPr>
          <a:xfrm>
            <a:off x="365760" y="40233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16.1% of Items Have an HS Code Problem</a:t>
            </a:r>
            <a:endParaRPr lang="en-US" sz="2600"/>
          </a:p>
        </p:txBody>
      </p:sp>
      <p:sp>
        <p:nvSpPr>
          <p:cNvPr id="7" name="Shape 5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2560320" cy="329184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>
                <a:solidFill>
                  <a:srgbClr val="E87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16.1%</a:t>
            </a:r>
            <a:endParaRPr lang="en-US" sz="5600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items have an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code problem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50292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Fasah requires 12 digits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HV declaration</a:t>
            </a:r>
            <a:endParaRPr lang="en-US" sz="850"/>
          </a:p>
        </p:txBody>
      </p:sp>
      <p:sp>
        <p:nvSpPr>
          <p:cNvPr id="12" name="Text 10"/>
          <p:cNvSpPr/>
          <p:nvPr/>
        </p:nvSpPr>
        <p:spPr>
          <a:xfrm>
            <a:off x="502920" y="34015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or missing HS =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or manual agent work</a:t>
            </a:r>
            <a:endParaRPr lang="en-US" sz="850"/>
          </a:p>
        </p:txBody>
      </p:sp>
      <p:sp>
        <p:nvSpPr>
          <p:cNvPr id="13" name="Shape 11"/>
          <p:cNvSpPr/>
          <p:nvPr/>
        </p:nvSpPr>
        <p:spPr>
          <a:xfrm>
            <a:off x="3246120" y="1115568"/>
            <a:ext cx="5303520" cy="585216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55848" y="124358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83.9%</a:t>
            </a:r>
            <a:endParaRPr lang="en-US" sz="2000"/>
          </a:p>
        </p:txBody>
      </p:sp>
      <p:sp>
        <p:nvSpPr>
          <p:cNvPr id="15" name="Text 13"/>
          <p:cNvSpPr/>
          <p:nvPr/>
        </p:nvSpPr>
        <p:spPr>
          <a:xfrm>
            <a:off x="4233672" y="11887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12-digit HS</a:t>
            </a:r>
            <a:endParaRPr lang="en-US" sz="950"/>
          </a:p>
        </p:txBody>
      </p:sp>
      <p:sp>
        <p:nvSpPr>
          <p:cNvPr id="16" name="Text 14"/>
          <p:cNvSpPr/>
          <p:nvPr/>
        </p:nvSpPr>
        <p:spPr>
          <a:xfrm>
            <a:off x="4233672" y="14356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296K items</a:t>
            </a:r>
            <a:endParaRPr lang="en-US" sz="800"/>
          </a:p>
        </p:txBody>
      </p:sp>
      <p:sp>
        <p:nvSpPr>
          <p:cNvPr id="17" name="Shape 15"/>
          <p:cNvSpPr/>
          <p:nvPr/>
        </p:nvSpPr>
        <p:spPr>
          <a:xfrm>
            <a:off x="6309360" y="1298448"/>
            <a:ext cx="2468880" cy="18288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09360" y="1298448"/>
            <a:ext cx="2071390" cy="1828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46120" y="1792224"/>
            <a:ext cx="5303520" cy="585216"/>
          </a:xfrm>
          <a:prstGeom prst="rect">
            <a:avLst/>
          </a:prstGeom>
          <a:solidFill>
            <a:srgbClr val="FDF3ED"/>
          </a:solidFill>
          <a:ln w="9525">
            <a:solidFill>
              <a:srgbClr val="F3C4A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55848" y="19202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E87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11.7%</a:t>
            </a:r>
            <a:endParaRPr lang="en-US" sz="2000"/>
          </a:p>
        </p:txBody>
      </p:sp>
      <p:sp>
        <p:nvSpPr>
          <p:cNvPr id="21" name="Text 19"/>
          <p:cNvSpPr/>
          <p:nvPr/>
        </p:nvSpPr>
        <p:spPr>
          <a:xfrm>
            <a:off x="4233672" y="18653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10-digit (needs completion)</a:t>
            </a:r>
            <a:endParaRPr lang="en-US" sz="950"/>
          </a:p>
        </p:txBody>
      </p:sp>
      <p:sp>
        <p:nvSpPr>
          <p:cNvPr id="22" name="Text 20"/>
          <p:cNvSpPr/>
          <p:nvPr/>
        </p:nvSpPr>
        <p:spPr>
          <a:xfrm>
            <a:off x="4233672" y="21122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41K items</a:t>
            </a:r>
            <a:endParaRPr lang="en-US" sz="800"/>
          </a:p>
        </p:txBody>
      </p:sp>
      <p:sp>
        <p:nvSpPr>
          <p:cNvPr id="23" name="Shape 21"/>
          <p:cNvSpPr/>
          <p:nvPr/>
        </p:nvSpPr>
        <p:spPr>
          <a:xfrm>
            <a:off x="6309360" y="1975104"/>
            <a:ext cx="2468880" cy="18288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09360" y="1975104"/>
            <a:ext cx="288859" cy="18288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46120" y="2468880"/>
            <a:ext cx="5303520" cy="585216"/>
          </a:xfrm>
          <a:prstGeom prst="rect">
            <a:avLst/>
          </a:prstGeom>
          <a:solidFill>
            <a:srgbClr val="FDF3ED"/>
          </a:solidFill>
          <a:ln w="9525">
            <a:solidFill>
              <a:srgbClr val="F3C4A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55848" y="259689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E87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1.8%</a:t>
            </a:r>
            <a:endParaRPr lang="en-US" sz="2000"/>
          </a:p>
        </p:txBody>
      </p:sp>
      <p:sp>
        <p:nvSpPr>
          <p:cNvPr id="27" name="Text 25"/>
          <p:cNvSpPr/>
          <p:nvPr/>
        </p:nvSpPr>
        <p:spPr>
          <a:xfrm>
            <a:off x="4233672" y="25420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or 8-digit (partial)</a:t>
            </a:r>
            <a:endParaRPr lang="en-US" sz="950"/>
          </a:p>
        </p:txBody>
      </p:sp>
      <p:sp>
        <p:nvSpPr>
          <p:cNvPr id="28" name="Text 26"/>
          <p:cNvSpPr/>
          <p:nvPr/>
        </p:nvSpPr>
        <p:spPr>
          <a:xfrm>
            <a:off x="4233672" y="27889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6.4K items</a:t>
            </a:r>
            <a:endParaRPr lang="en-US" sz="800"/>
          </a:p>
        </p:txBody>
      </p:sp>
      <p:sp>
        <p:nvSpPr>
          <p:cNvPr id="29" name="Shape 27"/>
          <p:cNvSpPr/>
          <p:nvPr/>
        </p:nvSpPr>
        <p:spPr>
          <a:xfrm>
            <a:off x="6309360" y="2651760"/>
            <a:ext cx="2468880" cy="18288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09360" y="2651760"/>
            <a:ext cx="45720" cy="18288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46120" y="3145536"/>
            <a:ext cx="5303520" cy="585216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55848" y="32735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2.4%</a:t>
            </a:r>
            <a:endParaRPr lang="en-US" sz="2000"/>
          </a:p>
        </p:txBody>
      </p:sp>
      <p:sp>
        <p:nvSpPr>
          <p:cNvPr id="33" name="Text 31"/>
          <p:cNvSpPr/>
          <p:nvPr/>
        </p:nvSpPr>
        <p:spPr>
          <a:xfrm>
            <a:off x="4233672" y="32186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</a:t>
            </a:r>
            <a:endParaRPr lang="en-US" sz="950"/>
          </a:p>
        </p:txBody>
      </p:sp>
      <p:sp>
        <p:nvSpPr>
          <p:cNvPr id="34" name="Text 32"/>
          <p:cNvSpPr/>
          <p:nvPr/>
        </p:nvSpPr>
        <p:spPr>
          <a:xfrm>
            <a:off x="4233672" y="34655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8,557 items / qtr</a:t>
            </a:r>
            <a:endParaRPr lang="en-US" sz="800"/>
          </a:p>
        </p:txBody>
      </p:sp>
      <p:sp>
        <p:nvSpPr>
          <p:cNvPr id="35" name="Shape 33"/>
          <p:cNvSpPr/>
          <p:nvPr/>
        </p:nvSpPr>
        <p:spPr>
          <a:xfrm>
            <a:off x="6309360" y="3328416"/>
            <a:ext cx="2468880" cy="18288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09360" y="3328416"/>
            <a:ext cx="59253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246120" y="3822192"/>
            <a:ext cx="5303520" cy="585216"/>
          </a:xfrm>
          <a:prstGeom prst="rect">
            <a:avLst/>
          </a:prstGeom>
          <a:solidFill>
            <a:srgbClr val="F0EFE9"/>
          </a:solidFill>
          <a:ln w="9525">
            <a:solidFill>
              <a:srgbClr val="D4D4D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55848" y="395020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737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0.2%</a:t>
            </a:r>
            <a:endParaRPr lang="en-US" sz="2000"/>
          </a:p>
        </p:txBody>
      </p:sp>
      <p:sp>
        <p:nvSpPr>
          <p:cNvPr id="39" name="Text 37"/>
          <p:cNvSpPr/>
          <p:nvPr/>
        </p:nvSpPr>
        <p:spPr>
          <a:xfrm>
            <a:off x="4233672" y="38953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</a:t>
            </a:r>
            <a:endParaRPr lang="en-US" sz="950"/>
          </a:p>
        </p:txBody>
      </p:sp>
      <p:sp>
        <p:nvSpPr>
          <p:cNvPr id="40" name="Text 38"/>
          <p:cNvSpPr/>
          <p:nvPr/>
        </p:nvSpPr>
        <p:spPr>
          <a:xfrm>
            <a:off x="4233672" y="41422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606 items</a:t>
            </a:r>
            <a:endParaRPr lang="en-US" sz="800"/>
          </a:p>
        </p:txBody>
      </p:sp>
      <p:sp>
        <p:nvSpPr>
          <p:cNvPr id="41" name="Shape 39"/>
          <p:cNvSpPr/>
          <p:nvPr/>
        </p:nvSpPr>
        <p:spPr>
          <a:xfrm>
            <a:off x="6309360" y="4005072"/>
            <a:ext cx="2468880" cy="18288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309360" y="4005072"/>
            <a:ext cx="45720" cy="182880"/>
          </a:xfrm>
          <a:prstGeom prst="rect">
            <a:avLst/>
          </a:prstGeom>
          <a:solidFill>
            <a:srgbClr val="737373"/>
          </a:solidFill>
          <a:ln w="12700">
            <a:solidFill>
              <a:srgbClr val="7373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5E3DB"/>
          </a:solidFill>
          <a:ln w="12700">
            <a:solidFill>
              <a:srgbClr val="E5E3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9286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Group × </a:t>
            </a:r>
            <a:r>
              <a:rPr lang="en-US" sz="700" err="1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InfinitePL</a:t>
            </a:r>
            <a:r>
              <a:rPr lang="en-US" sz="70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 Customs &amp; Trade Intelligence  ·  March 2026</a:t>
            </a:r>
            <a:endParaRPr lang="en-US" sz="700"/>
          </a:p>
        </p:txBody>
      </p:sp>
      <p:sp>
        <p:nvSpPr>
          <p:cNvPr id="4" name="Text 2"/>
          <p:cNvSpPr/>
          <p:nvPr/>
        </p:nvSpPr>
        <p:spPr>
          <a:xfrm>
            <a:off x="8046720" y="1097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2 — DESCRIPTION QUALITY</a:t>
            </a:r>
            <a:endParaRPr lang="en-US" sz="800"/>
          </a:p>
        </p:txBody>
      </p:sp>
      <p:sp>
        <p:nvSpPr>
          <p:cNvPr id="6" name="Text 4"/>
          <p:cNvSpPr/>
          <p:nvPr/>
        </p:nvSpPr>
        <p:spPr>
          <a:xfrm>
            <a:off x="365760" y="40233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 of Descriptions Are Too Short to Rely On</a:t>
            </a:r>
            <a:endParaRPr lang="en-US" sz="2600"/>
          </a:p>
        </p:txBody>
      </p:sp>
      <p:sp>
        <p:nvSpPr>
          <p:cNvPr id="7" name="Shape 5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2606040" cy="1170432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115568"/>
            <a:ext cx="260604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225296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90.2%</a:t>
            </a:r>
            <a:endParaRPr lang="en-US" sz="3800"/>
          </a:p>
        </p:txBody>
      </p:sp>
      <p:sp>
        <p:nvSpPr>
          <p:cNvPr id="11" name="Text 9"/>
          <p:cNvSpPr/>
          <p:nvPr/>
        </p:nvSpPr>
        <p:spPr>
          <a:xfrm>
            <a:off x="502920" y="18288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descriptions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≤20 characters</a:t>
            </a:r>
            <a:endParaRPr lang="en-US" sz="850"/>
          </a:p>
        </p:txBody>
      </p:sp>
      <p:sp>
        <p:nvSpPr>
          <p:cNvPr id="12" name="Shape 10"/>
          <p:cNvSpPr/>
          <p:nvPr/>
        </p:nvSpPr>
        <p:spPr>
          <a:xfrm>
            <a:off x="3291840" y="1115568"/>
            <a:ext cx="2606040" cy="1170432"/>
          </a:xfrm>
          <a:prstGeom prst="rect">
            <a:avLst/>
          </a:prstGeom>
          <a:solidFill>
            <a:srgbClr val="FDF3ED"/>
          </a:solidFill>
          <a:ln w="9525">
            <a:solidFill>
              <a:srgbClr val="F3C4A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91840" y="1115568"/>
            <a:ext cx="2606040" cy="36576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29000" y="1225296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>
                <a:solidFill>
                  <a:srgbClr val="E87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800"/>
          </a:p>
        </p:txBody>
      </p:sp>
      <p:sp>
        <p:nvSpPr>
          <p:cNvPr id="15" name="Text 13"/>
          <p:cNvSpPr/>
          <p:nvPr/>
        </p:nvSpPr>
        <p:spPr>
          <a:xfrm>
            <a:off x="3429000" y="18288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length</a:t>
            </a:r>
            <a:endParaRPr lang="en-US" sz="850"/>
          </a:p>
        </p:txBody>
      </p:sp>
      <p:sp>
        <p:nvSpPr>
          <p:cNvPr id="16" name="Shape 14"/>
          <p:cNvSpPr/>
          <p:nvPr/>
        </p:nvSpPr>
        <p:spPr>
          <a:xfrm>
            <a:off x="6217920" y="1115568"/>
            <a:ext cx="2606040" cy="1170432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1115568"/>
            <a:ext cx="2606040" cy="3657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55080" y="1225296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2.9%</a:t>
            </a:r>
            <a:endParaRPr lang="en-US" sz="3800"/>
          </a:p>
        </p:txBody>
      </p:sp>
      <p:sp>
        <p:nvSpPr>
          <p:cNvPr id="19" name="Text 17"/>
          <p:cNvSpPr/>
          <p:nvPr/>
        </p:nvSpPr>
        <p:spPr>
          <a:xfrm>
            <a:off x="6355080" y="18288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enough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(&gt;60 chars) for confident AI</a:t>
            </a:r>
            <a:endParaRPr lang="en-US" sz="850"/>
          </a:p>
        </p:txBody>
      </p:sp>
      <p:sp>
        <p:nvSpPr>
          <p:cNvPr id="20" name="Text 18"/>
          <p:cNvSpPr/>
          <p:nvPr/>
        </p:nvSpPr>
        <p:spPr>
          <a:xfrm>
            <a:off x="365760" y="24231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ONE DESCRIPTION, MANY POSSIBLE HS CODES</a:t>
            </a:r>
            <a:endParaRPr lang="en-US" sz="750"/>
          </a:p>
        </p:txBody>
      </p:sp>
      <p:sp>
        <p:nvSpPr>
          <p:cNvPr id="21" name="Shape 19"/>
          <p:cNvSpPr/>
          <p:nvPr/>
        </p:nvSpPr>
        <p:spPr>
          <a:xfrm>
            <a:off x="365760" y="2651760"/>
            <a:ext cx="41148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2651760"/>
            <a:ext cx="45720" cy="731520"/>
          </a:xfrm>
          <a:prstGeom prst="rect">
            <a:avLst/>
          </a:prstGeom>
          <a:solidFill>
            <a:srgbClr val="737373"/>
          </a:solidFill>
          <a:ln w="12700">
            <a:solidFill>
              <a:srgbClr val="7373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2743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"Women Dress"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1645920" y="27797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E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24,000 items</a:t>
            </a:r>
            <a:endParaRPr lang="en-US" sz="800"/>
          </a:p>
        </p:txBody>
      </p:sp>
      <p:sp>
        <p:nvSpPr>
          <p:cNvPr id="25" name="Text 23"/>
          <p:cNvSpPr/>
          <p:nvPr/>
        </p:nvSpPr>
        <p:spPr>
          <a:xfrm>
            <a:off x="548640" y="30175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be HS 6204.42 (cotton), 6204.43 (synthetic), 6204.44 (artificial) — material determines code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4663440" y="2651760"/>
            <a:ext cx="41148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0" y="2651760"/>
            <a:ext cx="45720" cy="731520"/>
          </a:xfrm>
          <a:prstGeom prst="rect">
            <a:avLst/>
          </a:prstGeom>
          <a:solidFill>
            <a:srgbClr val="737373"/>
          </a:solidFill>
          <a:ln w="12700">
            <a:solidFill>
              <a:srgbClr val="7373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2743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"Socks"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5943600" y="27797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E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8,000+ items</a:t>
            </a:r>
            <a:endParaRPr lang="en-US" sz="800"/>
          </a:p>
        </p:txBody>
      </p:sp>
      <p:sp>
        <p:nvSpPr>
          <p:cNvPr id="30" name="Text 28"/>
          <p:cNvSpPr/>
          <p:nvPr/>
        </p:nvSpPr>
        <p:spPr>
          <a:xfrm>
            <a:off x="4846320" y="30175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fibre content. Elastic socks (medical) vs normal = different HS entirely.</a:t>
            </a:r>
            <a:endParaRPr lang="en-US" sz="850"/>
          </a:p>
        </p:txBody>
      </p:sp>
      <p:sp>
        <p:nvSpPr>
          <p:cNvPr id="31" name="Shape 29"/>
          <p:cNvSpPr/>
          <p:nvPr/>
        </p:nvSpPr>
        <p:spPr>
          <a:xfrm>
            <a:off x="365760" y="3474720"/>
            <a:ext cx="41148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65760" y="3474720"/>
            <a:ext cx="45720" cy="731520"/>
          </a:xfrm>
          <a:prstGeom prst="rect">
            <a:avLst/>
          </a:prstGeom>
          <a:solidFill>
            <a:srgbClr val="737373"/>
          </a:solidFill>
          <a:ln w="12700">
            <a:solidFill>
              <a:srgbClr val="7373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" y="3566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"Hair Clip"</a:t>
            </a:r>
            <a:endParaRPr lang="en-US" sz="1200"/>
          </a:p>
        </p:txBody>
      </p:sp>
      <p:sp>
        <p:nvSpPr>
          <p:cNvPr id="34" name="Text 32"/>
          <p:cNvSpPr/>
          <p:nvPr/>
        </p:nvSpPr>
        <p:spPr>
          <a:xfrm>
            <a:off x="1645920" y="36027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E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widespread</a:t>
            </a:r>
            <a:endParaRPr lang="en-US" sz="800"/>
          </a:p>
        </p:txBody>
      </p:sp>
      <p:sp>
        <p:nvSpPr>
          <p:cNvPr id="35" name="Text 33"/>
          <p:cNvSpPr/>
          <p:nvPr/>
        </p:nvSpPr>
        <p:spPr>
          <a:xfrm>
            <a:off x="548640" y="38404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vs metal = different heading. Description alone is insufficient.</a:t>
            </a:r>
            <a:endParaRPr lang="en-US" sz="850"/>
          </a:p>
        </p:txBody>
      </p:sp>
      <p:sp>
        <p:nvSpPr>
          <p:cNvPr id="36" name="Shape 34"/>
          <p:cNvSpPr/>
          <p:nvPr/>
        </p:nvSpPr>
        <p:spPr>
          <a:xfrm>
            <a:off x="4663440" y="3474720"/>
            <a:ext cx="41148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663440" y="3474720"/>
            <a:ext cx="45720" cy="731520"/>
          </a:xfrm>
          <a:prstGeom prst="rect">
            <a:avLst/>
          </a:prstGeom>
          <a:solidFill>
            <a:srgbClr val="737373"/>
          </a:solidFill>
          <a:ln w="12700">
            <a:solidFill>
              <a:srgbClr val="7373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46320" y="3566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"Ring"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5943600" y="36027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E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</a:t>
            </a:r>
            <a:endParaRPr lang="en-US" sz="800"/>
          </a:p>
        </p:txBody>
      </p:sp>
      <p:sp>
        <p:nvSpPr>
          <p:cNvPr id="40" name="Text 38"/>
          <p:cNvSpPr/>
          <p:nvPr/>
        </p:nvSpPr>
        <p:spPr>
          <a:xfrm>
            <a:off x="4846320" y="38404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Precious metal? Base metal? Toy? Three different tariff chapters.</a:t>
            </a:r>
            <a:endParaRPr lang="en-US" sz="850"/>
          </a:p>
        </p:txBody>
      </p:sp>
      <p:sp>
        <p:nvSpPr>
          <p:cNvPr id="43" name="Text 41"/>
          <p:cNvSpPr/>
          <p:nvPr/>
        </p:nvSpPr>
        <p:spPr>
          <a:xfrm>
            <a:off x="1920240" y="426110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must use the HS code as its primary signal — not the description. This drives the two-path architecture.</a:t>
            </a:r>
            <a:endParaRPr lang="en-US" sz="9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5E3DB"/>
          </a:solidFill>
          <a:ln w="12700">
            <a:solidFill>
              <a:srgbClr val="E5E3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9286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Group × </a:t>
            </a:r>
            <a:r>
              <a:rPr lang="en-US" sz="700" err="1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InfinitePL</a:t>
            </a:r>
            <a:r>
              <a:rPr lang="en-US" sz="70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 Customs &amp; Trade Intelligence  ·  March 2026</a:t>
            </a:r>
            <a:endParaRPr lang="en-US" sz="700"/>
          </a:p>
        </p:txBody>
      </p:sp>
      <p:sp>
        <p:nvSpPr>
          <p:cNvPr id="4" name="Text 2"/>
          <p:cNvSpPr/>
          <p:nvPr/>
        </p:nvSpPr>
        <p:spPr>
          <a:xfrm>
            <a:off x="8046720" y="1097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INSIGHT — DESIGN DECISION</a:t>
            </a:r>
            <a:endParaRPr lang="en-US" sz="800"/>
          </a:p>
        </p:txBody>
      </p:sp>
      <p:sp>
        <p:nvSpPr>
          <p:cNvPr id="6" name="Text 4"/>
          <p:cNvSpPr/>
          <p:nvPr/>
        </p:nvSpPr>
        <p:spPr>
          <a:xfrm>
            <a:off x="365760" y="402336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HS Code Is a Stronger Signal Than the Description</a:t>
            </a:r>
            <a:endParaRPr lang="en-US" sz="2600"/>
          </a:p>
        </p:txBody>
      </p:sp>
      <p:sp>
        <p:nvSpPr>
          <p:cNvPr id="7" name="Shape 5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12-digit HS code maps to a precise tariff heading (e.g. 620442 = "Women's dresses, of cotton") — far richer than "Women Dress".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inverts the AI task for 97.6% of items: use the code to generate a better description, not the other way round.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4114800" cy="2834640"/>
          </a:xfrm>
          <a:prstGeom prst="rect">
            <a:avLst/>
          </a:prstGeom>
          <a:solidFill>
            <a:srgbClr val="FDF3ED"/>
          </a:solidFill>
          <a:ln w="9525">
            <a:solidFill>
              <a:srgbClr val="F3C4A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4114800" cy="36576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7282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E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</a:t>
            </a:r>
            <a:endParaRPr lang="en-US" sz="800"/>
          </a:p>
        </p:txBody>
      </p:sp>
      <p:sp>
        <p:nvSpPr>
          <p:cNvPr id="12" name="Text 10"/>
          <p:cNvSpPr/>
          <p:nvPr/>
        </p:nvSpPr>
        <p:spPr>
          <a:xfrm>
            <a:off x="1261872" y="17282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97.6% of items</a:t>
            </a:r>
            <a:endParaRPr lang="en-US" sz="800"/>
          </a:p>
        </p:txBody>
      </p:sp>
      <p:sp>
        <p:nvSpPr>
          <p:cNvPr id="13" name="Text 11"/>
          <p:cNvSpPr/>
          <p:nvPr/>
        </p:nvSpPr>
        <p:spPr>
          <a:xfrm>
            <a:off x="502920" y="19476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HS Present</a:t>
            </a:r>
            <a:endParaRPr lang="en-US" sz="2000"/>
          </a:p>
        </p:txBody>
      </p:sp>
      <p:sp>
        <p:nvSpPr>
          <p:cNvPr id="14" name="Shape 12"/>
          <p:cNvSpPr/>
          <p:nvPr/>
        </p:nvSpPr>
        <p:spPr>
          <a:xfrm>
            <a:off x="502920" y="2377440"/>
            <a:ext cx="219456" cy="219456"/>
          </a:xfrm>
          <a:prstGeom prst="ellipse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377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/>
          </a:p>
        </p:txBody>
      </p:sp>
      <p:sp>
        <p:nvSpPr>
          <p:cNvPr id="16" name="Text 14"/>
          <p:cNvSpPr/>
          <p:nvPr/>
        </p:nvSpPr>
        <p:spPr>
          <a:xfrm>
            <a:off x="804672" y="23774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code received</a:t>
            </a:r>
            <a:endParaRPr lang="en-US" sz="950"/>
          </a:p>
        </p:txBody>
      </p:sp>
      <p:sp>
        <p:nvSpPr>
          <p:cNvPr id="17" name="Text 15"/>
          <p:cNvSpPr/>
          <p:nvPr/>
        </p:nvSpPr>
        <p:spPr>
          <a:xfrm>
            <a:off x="804672" y="25786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12-digit or partial from merchant invoice</a:t>
            </a:r>
            <a:endParaRPr lang="en-US" sz="800"/>
          </a:p>
        </p:txBody>
      </p:sp>
      <p:sp>
        <p:nvSpPr>
          <p:cNvPr id="18" name="Shape 16"/>
          <p:cNvSpPr/>
          <p:nvPr/>
        </p:nvSpPr>
        <p:spPr>
          <a:xfrm>
            <a:off x="502920" y="2834640"/>
            <a:ext cx="219456" cy="219456"/>
          </a:xfrm>
          <a:prstGeom prst="ellipse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8346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/>
          </a:p>
        </p:txBody>
      </p:sp>
      <p:sp>
        <p:nvSpPr>
          <p:cNvPr id="20" name="Text 18"/>
          <p:cNvSpPr/>
          <p:nvPr/>
        </p:nvSpPr>
        <p:spPr>
          <a:xfrm>
            <a:off x="804672" y="28346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Saudi tariff heading</a:t>
            </a:r>
            <a:endParaRPr lang="en-US" sz="950"/>
          </a:p>
        </p:txBody>
      </p:sp>
      <p:sp>
        <p:nvSpPr>
          <p:cNvPr id="21" name="Text 19"/>
          <p:cNvSpPr/>
          <p:nvPr/>
        </p:nvSpPr>
        <p:spPr>
          <a:xfrm>
            <a:off x="804672" y="30358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HS 620442 → "Women's dresses, of cotton"</a:t>
            </a:r>
            <a:endParaRPr lang="en-US" sz="800"/>
          </a:p>
        </p:txBody>
      </p:sp>
      <p:sp>
        <p:nvSpPr>
          <p:cNvPr id="22" name="Shape 20"/>
          <p:cNvSpPr/>
          <p:nvPr/>
        </p:nvSpPr>
        <p:spPr>
          <a:xfrm>
            <a:off x="502920" y="3291840"/>
            <a:ext cx="219456" cy="219456"/>
          </a:xfrm>
          <a:prstGeom prst="ellipse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2918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/>
          </a:p>
        </p:txBody>
      </p:sp>
      <p:sp>
        <p:nvSpPr>
          <p:cNvPr id="24" name="Text 22"/>
          <p:cNvSpPr/>
          <p:nvPr/>
        </p:nvSpPr>
        <p:spPr>
          <a:xfrm>
            <a:off x="804672" y="32918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compliant description</a:t>
            </a:r>
            <a:endParaRPr lang="en-US" sz="950"/>
          </a:p>
        </p:txBody>
      </p:sp>
      <p:sp>
        <p:nvSpPr>
          <p:cNvPr id="25" name="Text 23"/>
          <p:cNvSpPr/>
          <p:nvPr/>
        </p:nvSpPr>
        <p:spPr>
          <a:xfrm>
            <a:off x="804672" y="34930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 heading + merchant detail (no verbatim copy — ZATCA rule)</a:t>
            </a:r>
            <a:endParaRPr lang="en-US" sz="800"/>
          </a:p>
        </p:txBody>
      </p:sp>
      <p:sp>
        <p:nvSpPr>
          <p:cNvPr id="26" name="Shape 24"/>
          <p:cNvSpPr/>
          <p:nvPr/>
        </p:nvSpPr>
        <p:spPr>
          <a:xfrm>
            <a:off x="502920" y="3749040"/>
            <a:ext cx="219456" cy="219456"/>
          </a:xfrm>
          <a:prstGeom prst="ellipse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37490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/>
          </a:p>
        </p:txBody>
      </p:sp>
      <p:sp>
        <p:nvSpPr>
          <p:cNvPr id="28" name="Text 26"/>
          <p:cNvSpPr/>
          <p:nvPr/>
        </p:nvSpPr>
        <p:spPr>
          <a:xfrm>
            <a:off x="804672" y="3749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mismatches</a:t>
            </a:r>
            <a:endParaRPr lang="en-US" sz="950"/>
          </a:p>
        </p:txBody>
      </p:sp>
      <p:sp>
        <p:nvSpPr>
          <p:cNvPr id="29" name="Text 27"/>
          <p:cNvSpPr/>
          <p:nvPr/>
        </p:nvSpPr>
        <p:spPr>
          <a:xfrm>
            <a:off x="804672" y="39502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Cross-check: cotton dress HS + "Phone Case" description → agent queue</a:t>
            </a:r>
            <a:endParaRPr lang="en-US" sz="800"/>
          </a:p>
        </p:txBody>
      </p:sp>
      <p:sp>
        <p:nvSpPr>
          <p:cNvPr id="30" name="Text 28"/>
          <p:cNvSpPr/>
          <p:nvPr/>
        </p:nvSpPr>
        <p:spPr>
          <a:xfrm>
            <a:off x="502920" y="4160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Better descriptions from authoritative tariff language</a:t>
            </a:r>
            <a:endParaRPr lang="en-US" sz="850"/>
          </a:p>
        </p:txBody>
      </p:sp>
      <p:sp>
        <p:nvSpPr>
          <p:cNvPr id="31" name="Shape 29"/>
          <p:cNvSpPr/>
          <p:nvPr/>
        </p:nvSpPr>
        <p:spPr>
          <a:xfrm>
            <a:off x="4663440" y="1600200"/>
            <a:ext cx="4114800" cy="283464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63440" y="1600200"/>
            <a:ext cx="411480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0600" y="17282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</a:t>
            </a:r>
            <a:endParaRPr lang="en-US" sz="800"/>
          </a:p>
        </p:txBody>
      </p:sp>
      <p:sp>
        <p:nvSpPr>
          <p:cNvPr id="34" name="Text 32"/>
          <p:cNvSpPr/>
          <p:nvPr/>
        </p:nvSpPr>
        <p:spPr>
          <a:xfrm>
            <a:off x="5559552" y="17282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2.4% of items  </a:t>
            </a:r>
            <a:endParaRPr lang="en-US" sz="800"/>
          </a:p>
        </p:txBody>
      </p:sp>
      <p:sp>
        <p:nvSpPr>
          <p:cNvPr id="35" name="Text 33"/>
          <p:cNvSpPr/>
          <p:nvPr/>
        </p:nvSpPr>
        <p:spPr>
          <a:xfrm>
            <a:off x="4800600" y="19476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HS Absent</a:t>
            </a:r>
            <a:endParaRPr lang="en-US" sz="2000"/>
          </a:p>
        </p:txBody>
      </p:sp>
      <p:sp>
        <p:nvSpPr>
          <p:cNvPr id="36" name="Shape 34"/>
          <p:cNvSpPr/>
          <p:nvPr/>
        </p:nvSpPr>
        <p:spPr>
          <a:xfrm>
            <a:off x="4800600" y="2377440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00600" y="2377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/>
          </a:p>
        </p:txBody>
      </p:sp>
      <p:sp>
        <p:nvSpPr>
          <p:cNvPr id="38" name="Text 36"/>
          <p:cNvSpPr/>
          <p:nvPr/>
        </p:nvSpPr>
        <p:spPr>
          <a:xfrm>
            <a:off x="5102352" y="23774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is only input</a:t>
            </a:r>
            <a:endParaRPr lang="en-US" sz="950"/>
          </a:p>
        </p:txBody>
      </p:sp>
      <p:sp>
        <p:nvSpPr>
          <p:cNvPr id="39" name="Text 37"/>
          <p:cNvSpPr/>
          <p:nvPr/>
        </p:nvSpPr>
        <p:spPr>
          <a:xfrm>
            <a:off x="5102352" y="25786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"Socks", "Ring", "Hair Clip" — median 11 chars</a:t>
            </a:r>
            <a:endParaRPr lang="en-US" sz="800"/>
          </a:p>
        </p:txBody>
      </p:sp>
      <p:sp>
        <p:nvSpPr>
          <p:cNvPr id="40" name="Shape 38"/>
          <p:cNvSpPr/>
          <p:nvPr/>
        </p:nvSpPr>
        <p:spPr>
          <a:xfrm>
            <a:off x="4800600" y="2834640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00600" y="28346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/>
          </a:p>
        </p:txBody>
      </p:sp>
      <p:sp>
        <p:nvSpPr>
          <p:cNvPr id="42" name="Text 40"/>
          <p:cNvSpPr/>
          <p:nvPr/>
        </p:nvSpPr>
        <p:spPr>
          <a:xfrm>
            <a:off x="5102352" y="28346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HS from text</a:t>
            </a:r>
            <a:endParaRPr lang="en-US" sz="950"/>
          </a:p>
        </p:txBody>
      </p:sp>
      <p:sp>
        <p:nvSpPr>
          <p:cNvPr id="43" name="Text 41"/>
          <p:cNvSpPr/>
          <p:nvPr/>
        </p:nvSpPr>
        <p:spPr>
          <a:xfrm>
            <a:off x="5102352" y="30358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classifier; very short inputs make prediction ambiguous</a:t>
            </a:r>
            <a:endParaRPr lang="en-US" sz="800"/>
          </a:p>
        </p:txBody>
      </p:sp>
      <p:sp>
        <p:nvSpPr>
          <p:cNvPr id="44" name="Shape 42"/>
          <p:cNvSpPr/>
          <p:nvPr/>
        </p:nvSpPr>
        <p:spPr>
          <a:xfrm>
            <a:off x="4800600" y="3291840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00600" y="32918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/>
          </a:p>
        </p:txBody>
      </p:sp>
      <p:sp>
        <p:nvSpPr>
          <p:cNvPr id="46" name="Text 44"/>
          <p:cNvSpPr/>
          <p:nvPr/>
        </p:nvSpPr>
        <p:spPr>
          <a:xfrm>
            <a:off x="5102352" y="32918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routing</a:t>
            </a:r>
            <a:endParaRPr lang="en-US" sz="950"/>
          </a:p>
        </p:txBody>
      </p:sp>
      <p:sp>
        <p:nvSpPr>
          <p:cNvPr id="47" name="Text 45"/>
          <p:cNvSpPr/>
          <p:nvPr/>
        </p:nvSpPr>
        <p:spPr>
          <a:xfrm>
            <a:off x="5102352" y="34930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&gt;85% → auto  ·  50–85% → agent review  ·  &lt;50% → escalate</a:t>
            </a:r>
            <a:endParaRPr lang="en-US" sz="800"/>
          </a:p>
        </p:txBody>
      </p:sp>
      <p:sp>
        <p:nvSpPr>
          <p:cNvPr id="48" name="Shape 46"/>
          <p:cNvSpPr/>
          <p:nvPr/>
        </p:nvSpPr>
        <p:spPr>
          <a:xfrm>
            <a:off x="4800600" y="3749040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00600" y="37490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/>
          </a:p>
        </p:txBody>
      </p:sp>
      <p:sp>
        <p:nvSpPr>
          <p:cNvPr id="50" name="Text 48"/>
          <p:cNvSpPr/>
          <p:nvPr/>
        </p:nvSpPr>
        <p:spPr>
          <a:xfrm>
            <a:off x="5102352" y="3749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queue</a:t>
            </a:r>
            <a:endParaRPr lang="en-US" sz="950"/>
          </a:p>
        </p:txBody>
      </p:sp>
      <p:sp>
        <p:nvSpPr>
          <p:cNvPr id="51" name="Text 49"/>
          <p:cNvSpPr/>
          <p:nvPr/>
        </p:nvSpPr>
        <p:spPr>
          <a:xfrm>
            <a:off x="5102352" y="39502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assigns correct code → correction feeds model retraining</a:t>
            </a:r>
            <a:endParaRPr lang="en-US" sz="800"/>
          </a:p>
        </p:txBody>
      </p:sp>
      <p:sp>
        <p:nvSpPr>
          <p:cNvPr id="52" name="Text 50"/>
          <p:cNvSpPr/>
          <p:nvPr/>
        </p:nvSpPr>
        <p:spPr>
          <a:xfrm>
            <a:off x="4800600" y="4160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Short descriptions make prediction ambiguous — hardest AI task</a:t>
            </a:r>
            <a:endParaRPr lang="en-US" sz="8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5E3DB"/>
          </a:solidFill>
          <a:ln w="12700">
            <a:solidFill>
              <a:srgbClr val="E5E3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9286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Group × </a:t>
            </a:r>
            <a:r>
              <a:rPr lang="en-US" sz="700" err="1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InfinitePL</a:t>
            </a:r>
            <a:r>
              <a:rPr lang="en-US" sz="70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 Customs &amp; Trade Intelligence  ·  March 2026</a:t>
            </a:r>
            <a:endParaRPr lang="en-US" sz="700"/>
          </a:p>
        </p:txBody>
      </p:sp>
      <p:sp>
        <p:nvSpPr>
          <p:cNvPr id="4" name="Text 2"/>
          <p:cNvSpPr/>
          <p:nvPr/>
        </p:nvSpPr>
        <p:spPr>
          <a:xfrm>
            <a:off x="8046720" y="1097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CONTEXT — ZATCA / FASAH</a:t>
            </a:r>
            <a:endParaRPr lang="en-US" sz="800"/>
          </a:p>
        </p:txBody>
      </p:sp>
      <p:sp>
        <p:nvSpPr>
          <p:cNvPr id="6" name="Text 4"/>
          <p:cNvSpPr/>
          <p:nvPr/>
        </p:nvSpPr>
        <p:spPr>
          <a:xfrm>
            <a:off x="365760" y="40233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That Shape Every Product Decision</a:t>
            </a:r>
            <a:endParaRPr lang="en-US" sz="2600"/>
          </a:p>
        </p:txBody>
      </p:sp>
      <p:sp>
        <p:nvSpPr>
          <p:cNvPr id="7" name="Shape 5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078992"/>
            <a:ext cx="50292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45720" cy="6217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15214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rule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566928" y="1399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copy ZATCA tariff heading verbatim — must paraphrase + include actual product detail. Shapes Path A generation.</a:t>
            </a:r>
            <a:endParaRPr lang="en-US" sz="850"/>
          </a:p>
        </p:txBody>
      </p:sp>
      <p:sp>
        <p:nvSpPr>
          <p:cNvPr id="12" name="Shape 10"/>
          <p:cNvSpPr/>
          <p:nvPr/>
        </p:nvSpPr>
        <p:spPr>
          <a:xfrm>
            <a:off x="365760" y="1755648"/>
            <a:ext cx="50292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1755648"/>
            <a:ext cx="45720" cy="6217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182880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Fasah two-step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566928" y="20756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 (waybill-level, no HS) → DEC (item-level, 12-digit HS required for HV). Two separate API submissions.</a:t>
            </a:r>
            <a:endParaRPr lang="en-US" sz="850"/>
          </a:p>
        </p:txBody>
      </p:sp>
      <p:sp>
        <p:nvSpPr>
          <p:cNvPr id="16" name="Shape 14"/>
          <p:cNvSpPr/>
          <p:nvPr/>
        </p:nvSpPr>
        <p:spPr>
          <a:xfrm>
            <a:off x="365760" y="2432304"/>
            <a:ext cx="50292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45720" cy="6217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250545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 threshold — SAR 1,000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566928" y="275234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≥1,000 SAR = full 12-digit HS + consignee ID required. &lt;1,000 SAR (80.7% of sample) uses generic code 980300000001.</a:t>
            </a:r>
            <a:endParaRPr lang="en-US" sz="850"/>
          </a:p>
        </p:txBody>
      </p:sp>
      <p:sp>
        <p:nvSpPr>
          <p:cNvPr id="20" name="Shape 18"/>
          <p:cNvSpPr/>
          <p:nvPr/>
        </p:nvSpPr>
        <p:spPr>
          <a:xfrm>
            <a:off x="365760" y="3108960"/>
            <a:ext cx="50292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108960"/>
            <a:ext cx="45720" cy="6217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" y="318211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Bayan = ground truth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566928" y="34290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ZATCA's accepted clearance document. Contains validated HS codes paired with accepted descriptions — these are the AI training labels.</a:t>
            </a:r>
            <a:endParaRPr lang="en-US" sz="850"/>
          </a:p>
        </p:txBody>
      </p:sp>
      <p:sp>
        <p:nvSpPr>
          <p:cNvPr id="28" name="Shape 26"/>
          <p:cNvSpPr/>
          <p:nvPr/>
        </p:nvSpPr>
        <p:spPr>
          <a:xfrm>
            <a:off x="5623560" y="1078992"/>
            <a:ext cx="3154680" cy="2875783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623560" y="1078992"/>
            <a:ext cx="315468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60720" y="11887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ZATCA PENALTIES</a:t>
            </a:r>
            <a:endParaRPr lang="en-US" sz="850"/>
          </a:p>
        </p:txBody>
      </p:sp>
      <p:sp>
        <p:nvSpPr>
          <p:cNvPr id="31" name="Text 29"/>
          <p:cNvSpPr/>
          <p:nvPr/>
        </p:nvSpPr>
        <p:spPr>
          <a:xfrm>
            <a:off x="5760720" y="13898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Group liable as broker</a:t>
            </a:r>
            <a:endParaRPr lang="en-US" sz="800"/>
          </a:p>
        </p:txBody>
      </p:sp>
      <p:sp>
        <p:nvSpPr>
          <p:cNvPr id="32" name="Shape 30"/>
          <p:cNvSpPr/>
          <p:nvPr/>
        </p:nvSpPr>
        <p:spPr>
          <a:xfrm>
            <a:off x="5760720" y="1618488"/>
            <a:ext cx="2834640" cy="0"/>
          </a:xfrm>
          <a:prstGeom prst="line">
            <a:avLst/>
          </a:prstGeom>
          <a:noFill/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760720" y="16642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000"/>
          </a:p>
        </p:txBody>
      </p:sp>
      <p:sp>
        <p:nvSpPr>
          <p:cNvPr id="34" name="Text 32"/>
          <p:cNvSpPr/>
          <p:nvPr/>
        </p:nvSpPr>
        <p:spPr>
          <a:xfrm>
            <a:off x="7086600" y="16642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underpaid duties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declaration</a:t>
            </a:r>
            <a:endParaRPr lang="en-US" sz="850"/>
          </a:p>
        </p:txBody>
      </p:sp>
      <p:sp>
        <p:nvSpPr>
          <p:cNvPr id="35" name="Shape 33"/>
          <p:cNvSpPr/>
          <p:nvPr/>
        </p:nvSpPr>
        <p:spPr>
          <a:xfrm>
            <a:off x="5760720" y="2304288"/>
            <a:ext cx="2834640" cy="0"/>
          </a:xfrm>
          <a:prstGeom prst="line">
            <a:avLst/>
          </a:prstGeom>
          <a:noFill/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760720" y="23500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10K</a:t>
            </a:r>
            <a:endParaRPr lang="en-US" sz="2000"/>
          </a:p>
        </p:txBody>
      </p:sp>
      <p:sp>
        <p:nvSpPr>
          <p:cNvPr id="37" name="Text 35"/>
          <p:cNvSpPr/>
          <p:nvPr/>
        </p:nvSpPr>
        <p:spPr>
          <a:xfrm>
            <a:off x="7086600" y="23500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incorrect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code</a:t>
            </a:r>
            <a:endParaRPr lang="en-US" sz="850"/>
          </a:p>
        </p:txBody>
      </p:sp>
      <p:sp>
        <p:nvSpPr>
          <p:cNvPr id="38" name="Shape 36"/>
          <p:cNvSpPr/>
          <p:nvPr/>
        </p:nvSpPr>
        <p:spPr>
          <a:xfrm>
            <a:off x="5760720" y="2990088"/>
            <a:ext cx="2834640" cy="0"/>
          </a:xfrm>
          <a:prstGeom prst="line">
            <a:avLst/>
          </a:prstGeom>
          <a:noFill/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760720" y="30358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50K</a:t>
            </a:r>
            <a:endParaRPr lang="en-US" sz="2000"/>
          </a:p>
        </p:txBody>
      </p:sp>
      <p:sp>
        <p:nvSpPr>
          <p:cNvPr id="40" name="Text 38"/>
          <p:cNvSpPr/>
          <p:nvPr/>
        </p:nvSpPr>
        <p:spPr>
          <a:xfrm>
            <a:off x="7086600" y="30358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fraudulent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+ seizure</a:t>
            </a:r>
            <a:endParaRPr lang="en-US" sz="850"/>
          </a:p>
        </p:txBody>
      </p:sp>
      <p:sp>
        <p:nvSpPr>
          <p:cNvPr id="41" name="Shape 39"/>
          <p:cNvSpPr/>
          <p:nvPr/>
        </p:nvSpPr>
        <p:spPr>
          <a:xfrm>
            <a:off x="5760720" y="3675888"/>
            <a:ext cx="2834640" cy="0"/>
          </a:xfrm>
          <a:prstGeom prst="line">
            <a:avLst/>
          </a:prstGeom>
          <a:noFill/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760720" y="376732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ZATCA Customs Law · GCC Common Customs Law Arts. 49–52</a:t>
            </a:r>
            <a:endParaRPr lang="en-US" sz="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&amp; NEXT STEPS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84048" y="40233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Questions</a:t>
            </a:r>
            <a:endParaRPr lang="en-US" sz="3000"/>
          </a:p>
          <a:p>
            <a:pPr marL="0" indent="0">
              <a:lnSpc>
                <a:spcPct val="110000"/>
              </a:lnSpc>
              <a:buNone/>
            </a:pPr>
            <a:r>
              <a:rPr lang="en-US" sz="30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Next Steps</a:t>
            </a:r>
            <a:endParaRPr lang="en-US" sz="3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235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800"/>
          </a:p>
        </p:txBody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5E3DB"/>
          </a:solidFill>
          <a:ln w="12700">
            <a:solidFill>
              <a:srgbClr val="E5E3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49286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Group × InfinitePL  ·  AI Customs &amp; Trade Intelligence  ·  ISE Microsoft Briefing  ·  March 2026</a:t>
            </a:r>
            <a:endParaRPr lang="en-US" sz="700"/>
          </a:p>
        </p:txBody>
      </p:sp>
      <p:sp>
        <p:nvSpPr>
          <p:cNvPr id="5" name="Text 3"/>
          <p:cNvSpPr/>
          <p:nvPr/>
        </p:nvSpPr>
        <p:spPr>
          <a:xfrm>
            <a:off x="384048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DISCOVERY — MARCH 2026</a:t>
            </a:r>
            <a:endParaRPr lang="en-US" sz="800"/>
          </a:p>
        </p:txBody>
      </p:sp>
      <p:sp>
        <p:nvSpPr>
          <p:cNvPr id="6" name="Text 4"/>
          <p:cNvSpPr/>
          <p:nvPr/>
        </p:nvSpPr>
        <p:spPr>
          <a:xfrm>
            <a:off x="384048" y="384048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Customs &amp; </a:t>
            </a:r>
            <a:r>
              <a:rPr lang="en-US" sz="3800" dirty="0">
                <a:solidFill>
                  <a:srgbClr val="E87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 Intelligence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84048" y="1417320"/>
            <a:ext cx="40690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F3C4A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4048" y="1417320"/>
            <a:ext cx="4069080" cy="36576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>
                <a:solidFill>
                  <a:srgbClr val="E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— PRODUCT 1</a:t>
            </a:r>
            <a:endParaRPr lang="en-US" sz="75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Customs Declaration Engine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548640" y="2487168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HS code resolution, validation, and goods description generation for Clearance (Fasah). Confidence-scored pipeline with agent oversight. Reduces misclassification penalty exposure.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3474720" y="144475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200">
                <a:solidFill>
                  <a:srgbClr val="E5E3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200"/>
          </a:p>
        </p:txBody>
      </p:sp>
      <p:sp>
        <p:nvSpPr>
          <p:cNvPr id="13" name="Shape 11"/>
          <p:cNvSpPr/>
          <p:nvPr/>
        </p:nvSpPr>
        <p:spPr>
          <a:xfrm>
            <a:off x="4690872" y="1417320"/>
            <a:ext cx="4069080" cy="3108960"/>
          </a:xfrm>
          <a:prstGeom prst="rect">
            <a:avLst/>
          </a:prstGeom>
          <a:solidFill>
            <a:srgbClr val="F0EFE9"/>
          </a:solidFill>
          <a:ln w="9525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55464" y="16002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 — PRODUCT 2</a:t>
            </a:r>
            <a:endParaRPr lang="en-US" sz="750"/>
          </a:p>
        </p:txBody>
      </p:sp>
      <p:sp>
        <p:nvSpPr>
          <p:cNvPr id="15" name="Text 13"/>
          <p:cNvSpPr/>
          <p:nvPr/>
        </p:nvSpPr>
        <p:spPr>
          <a:xfrm>
            <a:off x="4855464" y="1874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Trade Intelligence Platform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4855464" y="2487168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data → international trade flow intelligence. Re-export chain mapping, sourcing signals, B2B APIs. Requires Product 1 in production first.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7772400" y="144475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200">
                <a:solidFill>
                  <a:srgbClr val="D4D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800"/>
          </a:p>
        </p:txBody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5E3DB"/>
          </a:solidFill>
          <a:ln w="12700">
            <a:solidFill>
              <a:srgbClr val="E5E3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49286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Group × InfinitePL  ·  AI Customs &amp; Trade Intelligence  ·  ISE Microsoft Briefing  ·  March 2026</a:t>
            </a:r>
            <a:endParaRPr lang="en-US" sz="700"/>
          </a:p>
        </p:txBody>
      </p:sp>
      <p:sp>
        <p:nvSpPr>
          <p:cNvPr id="5" name="Text 3"/>
          <p:cNvSpPr/>
          <p:nvPr/>
        </p:nvSpPr>
        <p:spPr>
          <a:xfrm>
            <a:off x="384048" y="1645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</a:t>
            </a:r>
            <a:endParaRPr lang="en-US" sz="800"/>
          </a:p>
        </p:txBody>
      </p:sp>
      <p:sp>
        <p:nvSpPr>
          <p:cNvPr id="6" name="Text 4"/>
          <p:cNvSpPr/>
          <p:nvPr/>
        </p:nvSpPr>
        <p:spPr>
          <a:xfrm>
            <a:off x="384048" y="3474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Customs Classification — What Already Exists</a:t>
            </a:r>
            <a:endParaRPr lang="en-US" sz="2600"/>
          </a:p>
        </p:txBody>
      </p:sp>
      <p:sp>
        <p:nvSpPr>
          <p:cNvPr id="7" name="Text 5"/>
          <p:cNvSpPr/>
          <p:nvPr/>
        </p:nvSpPr>
        <p:spPr>
          <a:xfrm>
            <a:off x="384048" y="85953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are purpose-built for Saudi 12-digit HS codes with Fasah integration at e-commerce volume.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384048" y="1188720"/>
            <a:ext cx="1417320" cy="256032"/>
          </a:xfrm>
          <a:prstGeom prst="rect">
            <a:avLst/>
          </a:prstGeom>
          <a:solidFill>
            <a:srgbClr val="E5E3DB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8056" y="12344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700"/>
          </a:p>
        </p:txBody>
      </p:sp>
      <p:sp>
        <p:nvSpPr>
          <p:cNvPr id="10" name="Shape 8"/>
          <p:cNvSpPr/>
          <p:nvPr/>
        </p:nvSpPr>
        <p:spPr>
          <a:xfrm>
            <a:off x="1801368" y="1188720"/>
            <a:ext cx="914400" cy="256032"/>
          </a:xfrm>
          <a:prstGeom prst="rect">
            <a:avLst/>
          </a:prstGeom>
          <a:solidFill>
            <a:srgbClr val="E5E3DB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65376" y="12344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700"/>
          </a:p>
        </p:txBody>
      </p:sp>
      <p:sp>
        <p:nvSpPr>
          <p:cNvPr id="12" name="Shape 10"/>
          <p:cNvSpPr/>
          <p:nvPr/>
        </p:nvSpPr>
        <p:spPr>
          <a:xfrm>
            <a:off x="2715768" y="1188720"/>
            <a:ext cx="3108960" cy="256032"/>
          </a:xfrm>
          <a:prstGeom prst="rect">
            <a:avLst/>
          </a:prstGeom>
          <a:solidFill>
            <a:srgbClr val="E5E3DB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79776" y="12344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700"/>
          </a:p>
        </p:txBody>
      </p:sp>
      <p:sp>
        <p:nvSpPr>
          <p:cNvPr id="14" name="Shape 12"/>
          <p:cNvSpPr/>
          <p:nvPr/>
        </p:nvSpPr>
        <p:spPr>
          <a:xfrm>
            <a:off x="5824728" y="1188720"/>
            <a:ext cx="1280160" cy="256032"/>
          </a:xfrm>
          <a:prstGeom prst="rect">
            <a:avLst/>
          </a:prstGeom>
          <a:solidFill>
            <a:srgbClr val="E5E3DB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88736" y="12344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METHOD</a:t>
            </a:r>
            <a:endParaRPr lang="en-US" sz="700"/>
          </a:p>
        </p:txBody>
      </p:sp>
      <p:sp>
        <p:nvSpPr>
          <p:cNvPr id="16" name="Shape 14"/>
          <p:cNvSpPr/>
          <p:nvPr/>
        </p:nvSpPr>
        <p:spPr>
          <a:xfrm>
            <a:off x="7104888" y="1188720"/>
            <a:ext cx="1645920" cy="256032"/>
          </a:xfrm>
          <a:prstGeom prst="rect">
            <a:avLst/>
          </a:prstGeom>
          <a:solidFill>
            <a:srgbClr val="E5E3DB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68896" y="12344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700"/>
          </a:p>
        </p:txBody>
      </p:sp>
      <p:sp>
        <p:nvSpPr>
          <p:cNvPr id="18" name="Shape 16"/>
          <p:cNvSpPr/>
          <p:nvPr/>
        </p:nvSpPr>
        <p:spPr>
          <a:xfrm>
            <a:off x="384048" y="1444752"/>
            <a:ext cx="1417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01368" y="1444752"/>
            <a:ext cx="914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15768" y="1444752"/>
            <a:ext cx="3108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824728" y="1444752"/>
            <a:ext cx="1280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104888" y="1444752"/>
            <a:ext cx="1645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8056" y="149047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Munasiq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Customs</a:t>
            </a:r>
            <a:endParaRPr lang="en-US" sz="800"/>
          </a:p>
        </p:txBody>
      </p:sp>
      <p:sp>
        <p:nvSpPr>
          <p:cNvPr id="24" name="Shape 22"/>
          <p:cNvSpPr/>
          <p:nvPr/>
        </p:nvSpPr>
        <p:spPr>
          <a:xfrm>
            <a:off x="1865376" y="1554480"/>
            <a:ext cx="749808" cy="182880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865376" y="155448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Gov</a:t>
            </a:r>
            <a:endParaRPr lang="en-US" sz="700"/>
          </a:p>
        </p:txBody>
      </p:sp>
      <p:sp>
        <p:nvSpPr>
          <p:cNvPr id="26" name="Text 24"/>
          <p:cNvSpPr/>
          <p:nvPr/>
        </p:nvSpPr>
        <p:spPr>
          <a:xfrm>
            <a:off x="2779776" y="14904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+ English HS classifier. Text, photo, or voice. ~10s GCC code + duty rate.</a:t>
            </a:r>
            <a:endParaRPr lang="en-US" sz="800"/>
          </a:p>
        </p:txBody>
      </p:sp>
      <p:sp>
        <p:nvSpPr>
          <p:cNvPr id="27" name="Shape 25"/>
          <p:cNvSpPr/>
          <p:nvPr/>
        </p:nvSpPr>
        <p:spPr>
          <a:xfrm>
            <a:off x="5888736" y="1554480"/>
            <a:ext cx="1152144" cy="18288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888736" y="1554480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+ image</a:t>
            </a:r>
            <a:endParaRPr lang="en-US" sz="700"/>
          </a:p>
        </p:txBody>
      </p:sp>
      <p:sp>
        <p:nvSpPr>
          <p:cNvPr id="29" name="Text 27"/>
          <p:cNvSpPr/>
          <p:nvPr/>
        </p:nvSpPr>
        <p:spPr>
          <a:xfrm>
            <a:off x="7168896" y="14904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UAE/GCC</a:t>
            </a:r>
            <a:endParaRPr lang="en-US" sz="800"/>
          </a:p>
        </p:txBody>
      </p:sp>
      <p:sp>
        <p:nvSpPr>
          <p:cNvPr id="30" name="Shape 28"/>
          <p:cNvSpPr/>
          <p:nvPr/>
        </p:nvSpPr>
        <p:spPr>
          <a:xfrm>
            <a:off x="384048" y="1847088"/>
            <a:ext cx="1417320" cy="402336"/>
          </a:xfrm>
          <a:prstGeom prst="rect">
            <a:avLst/>
          </a:prstGeom>
          <a:solidFill>
            <a:srgbClr val="F0EFE9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801368" y="1847088"/>
            <a:ext cx="914400" cy="402336"/>
          </a:xfrm>
          <a:prstGeom prst="rect">
            <a:avLst/>
          </a:prstGeom>
          <a:solidFill>
            <a:srgbClr val="F0EFE9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715768" y="1847088"/>
            <a:ext cx="3108960" cy="402336"/>
          </a:xfrm>
          <a:prstGeom prst="rect">
            <a:avLst/>
          </a:prstGeom>
          <a:solidFill>
            <a:srgbClr val="F0EFE9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824728" y="1847088"/>
            <a:ext cx="1280160" cy="402336"/>
          </a:xfrm>
          <a:prstGeom prst="rect">
            <a:avLst/>
          </a:prstGeom>
          <a:solidFill>
            <a:srgbClr val="F0EFE9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104888" y="1847088"/>
            <a:ext cx="1645920" cy="402336"/>
          </a:xfrm>
          <a:prstGeom prst="rect">
            <a:avLst/>
          </a:prstGeom>
          <a:solidFill>
            <a:srgbClr val="F0EFE9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48056" y="189280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TAMM Smart Class.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 Dhabi Cust.</a:t>
            </a:r>
            <a:endParaRPr lang="en-US" sz="800"/>
          </a:p>
        </p:txBody>
      </p:sp>
      <p:sp>
        <p:nvSpPr>
          <p:cNvPr id="36" name="Shape 34"/>
          <p:cNvSpPr/>
          <p:nvPr/>
        </p:nvSpPr>
        <p:spPr>
          <a:xfrm>
            <a:off x="1865376" y="1956816"/>
            <a:ext cx="749808" cy="182880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865376" y="19568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Gov</a:t>
            </a:r>
            <a:endParaRPr lang="en-US" sz="700"/>
          </a:p>
        </p:txBody>
      </p:sp>
      <p:sp>
        <p:nvSpPr>
          <p:cNvPr id="38" name="Text 36"/>
          <p:cNvSpPr/>
          <p:nvPr/>
        </p:nvSpPr>
        <p:spPr>
          <a:xfrm>
            <a:off x="2779776" y="18928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 Dhabi AI classification. Text → GCC HS code + duty rate.</a:t>
            </a:r>
            <a:endParaRPr lang="en-US" sz="800"/>
          </a:p>
        </p:txBody>
      </p:sp>
      <p:sp>
        <p:nvSpPr>
          <p:cNvPr id="39" name="Shape 37"/>
          <p:cNvSpPr/>
          <p:nvPr/>
        </p:nvSpPr>
        <p:spPr>
          <a:xfrm>
            <a:off x="5888736" y="1956816"/>
            <a:ext cx="1152144" cy="18288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888736" y="1956816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classif.</a:t>
            </a:r>
            <a:endParaRPr lang="en-US" sz="700"/>
          </a:p>
        </p:txBody>
      </p:sp>
      <p:sp>
        <p:nvSpPr>
          <p:cNvPr id="41" name="Text 39"/>
          <p:cNvSpPr/>
          <p:nvPr/>
        </p:nvSpPr>
        <p:spPr>
          <a:xfrm>
            <a:off x="7168896" y="189280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UAE/GCC</a:t>
            </a:r>
            <a:endParaRPr lang="en-US" sz="800"/>
          </a:p>
        </p:txBody>
      </p:sp>
      <p:sp>
        <p:nvSpPr>
          <p:cNvPr id="42" name="Shape 40"/>
          <p:cNvSpPr/>
          <p:nvPr/>
        </p:nvSpPr>
        <p:spPr>
          <a:xfrm>
            <a:off x="384048" y="2249424"/>
            <a:ext cx="1417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801368" y="2249424"/>
            <a:ext cx="914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715768" y="2249424"/>
            <a:ext cx="3108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824728" y="2249424"/>
            <a:ext cx="1280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104888" y="2249424"/>
            <a:ext cx="1645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48056" y="229514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WCO BACUDA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Customs Org.</a:t>
            </a:r>
            <a:endParaRPr lang="en-US" sz="800"/>
          </a:p>
        </p:txBody>
      </p:sp>
      <p:sp>
        <p:nvSpPr>
          <p:cNvPr id="48" name="Shape 46"/>
          <p:cNvSpPr/>
          <p:nvPr/>
        </p:nvSpPr>
        <p:spPr>
          <a:xfrm>
            <a:off x="1865376" y="2359152"/>
            <a:ext cx="749808" cy="182880"/>
          </a:xfrm>
          <a:prstGeom prst="rect">
            <a:avLst/>
          </a:prstGeom>
          <a:solidFill>
            <a:srgbClr val="DBEAFE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865376" y="235915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Intergov.</a:t>
            </a:r>
            <a:endParaRPr lang="en-US" sz="700"/>
          </a:p>
        </p:txBody>
      </p:sp>
      <p:sp>
        <p:nvSpPr>
          <p:cNvPr id="50" name="Text 48"/>
          <p:cNvSpPr/>
          <p:nvPr/>
        </p:nvSpPr>
        <p:spPr>
          <a:xfrm>
            <a:off x="2779776" y="229514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neural net trained on country's own historical declarations. Same approach as SPL's Bayan history.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888736" y="2359152"/>
            <a:ext cx="1152144" cy="18288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888736" y="2359152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neural net</a:t>
            </a:r>
            <a:endParaRPr lang="en-US" sz="700"/>
          </a:p>
        </p:txBody>
      </p:sp>
      <p:sp>
        <p:nvSpPr>
          <p:cNvPr id="53" name="Text 51"/>
          <p:cNvSpPr/>
          <p:nvPr/>
        </p:nvSpPr>
        <p:spPr>
          <a:xfrm>
            <a:off x="7168896" y="229514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Country-specific</a:t>
            </a:r>
            <a:endParaRPr lang="en-US" sz="800"/>
          </a:p>
        </p:txBody>
      </p:sp>
      <p:sp>
        <p:nvSpPr>
          <p:cNvPr id="54" name="Shape 52"/>
          <p:cNvSpPr/>
          <p:nvPr/>
        </p:nvSpPr>
        <p:spPr>
          <a:xfrm>
            <a:off x="384048" y="2651760"/>
            <a:ext cx="1417320" cy="402336"/>
          </a:xfrm>
          <a:prstGeom prst="rect">
            <a:avLst/>
          </a:prstGeom>
          <a:solidFill>
            <a:srgbClr val="F0EFE9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801368" y="2651760"/>
            <a:ext cx="914400" cy="402336"/>
          </a:xfrm>
          <a:prstGeom prst="rect">
            <a:avLst/>
          </a:prstGeom>
          <a:solidFill>
            <a:srgbClr val="F0EFE9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715768" y="2651760"/>
            <a:ext cx="3108960" cy="402336"/>
          </a:xfrm>
          <a:prstGeom prst="rect">
            <a:avLst/>
          </a:prstGeom>
          <a:solidFill>
            <a:srgbClr val="F0EFE9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824728" y="2651760"/>
            <a:ext cx="1280160" cy="402336"/>
          </a:xfrm>
          <a:prstGeom prst="rect">
            <a:avLst/>
          </a:prstGeom>
          <a:solidFill>
            <a:srgbClr val="F0EFE9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104888" y="2651760"/>
            <a:ext cx="1645920" cy="402336"/>
          </a:xfrm>
          <a:prstGeom prst="rect">
            <a:avLst/>
          </a:prstGeom>
          <a:solidFill>
            <a:srgbClr val="F0EFE9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48056" y="2697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Zonos Classify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Zonos</a:t>
            </a:r>
            <a:endParaRPr lang="en-US" sz="800"/>
          </a:p>
        </p:txBody>
      </p:sp>
      <p:sp>
        <p:nvSpPr>
          <p:cNvPr id="60" name="Shape 58"/>
          <p:cNvSpPr/>
          <p:nvPr/>
        </p:nvSpPr>
        <p:spPr>
          <a:xfrm>
            <a:off x="1865376" y="2761488"/>
            <a:ext cx="749808" cy="182880"/>
          </a:xfrm>
          <a:prstGeom prst="rect">
            <a:avLst/>
          </a:prstGeom>
          <a:solidFill>
            <a:srgbClr val="DCFCE7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865376" y="27614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700"/>
          </a:p>
        </p:txBody>
      </p:sp>
      <p:sp>
        <p:nvSpPr>
          <p:cNvPr id="62" name="Text 60"/>
          <p:cNvSpPr/>
          <p:nvPr/>
        </p:nvSpPr>
        <p:spPr>
          <a:xfrm>
            <a:off x="2779776" y="26974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API-based e-commerce HS classification. HS + duty/tax for 200+ countries. 90%+ claimed.</a:t>
            </a:r>
            <a:endParaRPr lang="en-US" sz="800"/>
          </a:p>
        </p:txBody>
      </p:sp>
      <p:sp>
        <p:nvSpPr>
          <p:cNvPr id="63" name="Shape 61"/>
          <p:cNvSpPr/>
          <p:nvPr/>
        </p:nvSpPr>
        <p:spPr>
          <a:xfrm>
            <a:off x="5888736" y="2761488"/>
            <a:ext cx="1152144" cy="18288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888736" y="2761488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700"/>
          </a:p>
        </p:txBody>
      </p:sp>
      <p:sp>
        <p:nvSpPr>
          <p:cNvPr id="65" name="Text 63"/>
          <p:cNvSpPr/>
          <p:nvPr/>
        </p:nvSpPr>
        <p:spPr>
          <a:xfrm>
            <a:off x="7168896" y="2697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countries</a:t>
            </a:r>
            <a:endParaRPr lang="en-US" sz="800"/>
          </a:p>
        </p:txBody>
      </p:sp>
      <p:sp>
        <p:nvSpPr>
          <p:cNvPr id="66" name="Shape 64"/>
          <p:cNvSpPr/>
          <p:nvPr/>
        </p:nvSpPr>
        <p:spPr>
          <a:xfrm>
            <a:off x="384048" y="3054096"/>
            <a:ext cx="1417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801368" y="3054096"/>
            <a:ext cx="914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2715768" y="3054096"/>
            <a:ext cx="3108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5824728" y="3054096"/>
            <a:ext cx="1280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7104888" y="3054096"/>
            <a:ext cx="1645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48056" y="309981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Avalara Cross-Border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Avalara</a:t>
            </a:r>
            <a:endParaRPr lang="en-US" sz="800"/>
          </a:p>
        </p:txBody>
      </p:sp>
      <p:sp>
        <p:nvSpPr>
          <p:cNvPr id="72" name="Shape 70"/>
          <p:cNvSpPr/>
          <p:nvPr/>
        </p:nvSpPr>
        <p:spPr>
          <a:xfrm>
            <a:off x="1865376" y="3163824"/>
            <a:ext cx="749808" cy="182880"/>
          </a:xfrm>
          <a:prstGeom prst="rect">
            <a:avLst/>
          </a:prstGeom>
          <a:solidFill>
            <a:srgbClr val="DCFCE7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1865376" y="316382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700"/>
          </a:p>
        </p:txBody>
      </p:sp>
      <p:sp>
        <p:nvSpPr>
          <p:cNvPr id="74" name="Text 72"/>
          <p:cNvSpPr/>
          <p:nvPr/>
        </p:nvSpPr>
        <p:spPr>
          <a:xfrm>
            <a:off x="2779776" y="309981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classification in tax compliance. ML + human expert review for edge cases.</a:t>
            </a:r>
            <a:endParaRPr lang="en-US" sz="800"/>
          </a:p>
        </p:txBody>
      </p:sp>
      <p:sp>
        <p:nvSpPr>
          <p:cNvPr id="75" name="Shape 73"/>
          <p:cNvSpPr/>
          <p:nvPr/>
        </p:nvSpPr>
        <p:spPr>
          <a:xfrm>
            <a:off x="5888736" y="3163824"/>
            <a:ext cx="1152144" cy="18288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5888736" y="3163824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human loop</a:t>
            </a:r>
            <a:endParaRPr lang="en-US" sz="700"/>
          </a:p>
        </p:txBody>
      </p:sp>
      <p:sp>
        <p:nvSpPr>
          <p:cNvPr id="77" name="Text 75"/>
          <p:cNvSpPr/>
          <p:nvPr/>
        </p:nvSpPr>
        <p:spPr>
          <a:xfrm>
            <a:off x="7168896" y="309981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180+ countries</a:t>
            </a:r>
            <a:endParaRPr lang="en-US" sz="800"/>
          </a:p>
        </p:txBody>
      </p:sp>
      <p:sp>
        <p:nvSpPr>
          <p:cNvPr id="78" name="Shape 76"/>
          <p:cNvSpPr/>
          <p:nvPr/>
        </p:nvSpPr>
        <p:spPr>
          <a:xfrm>
            <a:off x="384048" y="3456432"/>
            <a:ext cx="1417320" cy="402336"/>
          </a:xfrm>
          <a:prstGeom prst="rect">
            <a:avLst/>
          </a:prstGeom>
          <a:solidFill>
            <a:srgbClr val="F0EFE9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1801368" y="3456432"/>
            <a:ext cx="914400" cy="402336"/>
          </a:xfrm>
          <a:prstGeom prst="rect">
            <a:avLst/>
          </a:prstGeom>
          <a:solidFill>
            <a:srgbClr val="F0EFE9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2715768" y="3456432"/>
            <a:ext cx="3108960" cy="402336"/>
          </a:xfrm>
          <a:prstGeom prst="rect">
            <a:avLst/>
          </a:prstGeom>
          <a:solidFill>
            <a:srgbClr val="F0EFE9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5824728" y="3456432"/>
            <a:ext cx="1280160" cy="402336"/>
          </a:xfrm>
          <a:prstGeom prst="rect">
            <a:avLst/>
          </a:prstGeom>
          <a:solidFill>
            <a:srgbClr val="F0EFE9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7104888" y="3456432"/>
            <a:ext cx="1645920" cy="402336"/>
          </a:xfrm>
          <a:prstGeom prst="rect">
            <a:avLst/>
          </a:prstGeom>
          <a:solidFill>
            <a:srgbClr val="F0EFE9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48056" y="350215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Descartes CustomsInfo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Descartes</a:t>
            </a:r>
            <a:endParaRPr lang="en-US" sz="800"/>
          </a:p>
        </p:txBody>
      </p:sp>
      <p:sp>
        <p:nvSpPr>
          <p:cNvPr id="84" name="Shape 82"/>
          <p:cNvSpPr/>
          <p:nvPr/>
        </p:nvSpPr>
        <p:spPr>
          <a:xfrm>
            <a:off x="1865376" y="3566160"/>
            <a:ext cx="749808" cy="182880"/>
          </a:xfrm>
          <a:prstGeom prst="rect">
            <a:avLst/>
          </a:prstGeom>
          <a:solidFill>
            <a:srgbClr val="DCFCE7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1865376" y="356616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700"/>
          </a:p>
        </p:txBody>
      </p:sp>
      <p:sp>
        <p:nvSpPr>
          <p:cNvPr id="86" name="Text 84"/>
          <p:cNvSpPr/>
          <p:nvPr/>
        </p:nvSpPr>
        <p:spPr>
          <a:xfrm>
            <a:off x="2779776" y="35021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6M+ classification rules + ML for new product matching. Large logistics operators.</a:t>
            </a:r>
            <a:endParaRPr lang="en-US" sz="800"/>
          </a:p>
        </p:txBody>
      </p:sp>
      <p:sp>
        <p:nvSpPr>
          <p:cNvPr id="87" name="Shape 85"/>
          <p:cNvSpPr/>
          <p:nvPr/>
        </p:nvSpPr>
        <p:spPr>
          <a:xfrm>
            <a:off x="5888736" y="3566160"/>
            <a:ext cx="1152144" cy="18288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5888736" y="3566160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ML</a:t>
            </a:r>
            <a:endParaRPr lang="en-US" sz="700"/>
          </a:p>
        </p:txBody>
      </p:sp>
      <p:sp>
        <p:nvSpPr>
          <p:cNvPr id="89" name="Text 87"/>
          <p:cNvSpPr/>
          <p:nvPr/>
        </p:nvSpPr>
        <p:spPr>
          <a:xfrm>
            <a:off x="7168896" y="35021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190+ countries</a:t>
            </a:r>
            <a:endParaRPr lang="en-US" sz="800"/>
          </a:p>
        </p:txBody>
      </p:sp>
      <p:sp>
        <p:nvSpPr>
          <p:cNvPr id="90" name="Shape 88"/>
          <p:cNvSpPr/>
          <p:nvPr/>
        </p:nvSpPr>
        <p:spPr>
          <a:xfrm>
            <a:off x="384048" y="3858768"/>
            <a:ext cx="1417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1801368" y="3858768"/>
            <a:ext cx="914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2715768" y="3858768"/>
            <a:ext cx="3108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5824728" y="3858768"/>
            <a:ext cx="1280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7104888" y="3858768"/>
            <a:ext cx="1645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448056" y="390448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KlearNow.AI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KlearNow</a:t>
            </a:r>
            <a:endParaRPr lang="en-US" sz="800"/>
          </a:p>
        </p:txBody>
      </p:sp>
      <p:sp>
        <p:nvSpPr>
          <p:cNvPr id="96" name="Shape 94"/>
          <p:cNvSpPr/>
          <p:nvPr/>
        </p:nvSpPr>
        <p:spPr>
          <a:xfrm>
            <a:off x="1865376" y="3968496"/>
            <a:ext cx="749808" cy="182880"/>
          </a:xfrm>
          <a:prstGeom prst="rect">
            <a:avLst/>
          </a:prstGeom>
          <a:solidFill>
            <a:srgbClr val="DCFCE7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1865376" y="39684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700"/>
          </a:p>
        </p:txBody>
      </p:sp>
      <p:sp>
        <p:nvSpPr>
          <p:cNvPr id="98" name="Text 96"/>
          <p:cNvSpPr/>
          <p:nvPr/>
        </p:nvSpPr>
        <p:spPr>
          <a:xfrm>
            <a:off x="2779776" y="390448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brokerage: invoice + packing list → HS → declaration. Closest analogue to SPL.</a:t>
            </a:r>
            <a:endParaRPr lang="en-US" sz="800"/>
          </a:p>
        </p:txBody>
      </p:sp>
      <p:sp>
        <p:nvSpPr>
          <p:cNvPr id="99" name="Shape 97"/>
          <p:cNvSpPr/>
          <p:nvPr/>
        </p:nvSpPr>
        <p:spPr>
          <a:xfrm>
            <a:off x="5888736" y="3968496"/>
            <a:ext cx="1152144" cy="18288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5888736" y="3968496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NLP</a:t>
            </a:r>
            <a:endParaRPr lang="en-US" sz="700"/>
          </a:p>
        </p:txBody>
      </p:sp>
      <p:sp>
        <p:nvSpPr>
          <p:cNvPr id="101" name="Text 99"/>
          <p:cNvSpPr/>
          <p:nvPr/>
        </p:nvSpPr>
        <p:spPr>
          <a:xfrm>
            <a:off x="7168896" y="39044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US-focused</a:t>
            </a:r>
            <a:endParaRPr lang="en-US" sz="800"/>
          </a:p>
        </p:txBody>
      </p:sp>
      <p:sp>
        <p:nvSpPr>
          <p:cNvPr id="102" name="Shape 100"/>
          <p:cNvSpPr/>
          <p:nvPr/>
        </p:nvSpPr>
        <p:spPr>
          <a:xfrm>
            <a:off x="384048" y="4261104"/>
            <a:ext cx="1417320" cy="402336"/>
          </a:xfrm>
          <a:prstGeom prst="rect">
            <a:avLst/>
          </a:prstGeom>
          <a:solidFill>
            <a:srgbClr val="F0EFE9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1801368" y="4261104"/>
            <a:ext cx="914400" cy="402336"/>
          </a:xfrm>
          <a:prstGeom prst="rect">
            <a:avLst/>
          </a:prstGeom>
          <a:solidFill>
            <a:srgbClr val="F0EFE9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2715768" y="4261104"/>
            <a:ext cx="3108960" cy="402336"/>
          </a:xfrm>
          <a:prstGeom prst="rect">
            <a:avLst/>
          </a:prstGeom>
          <a:solidFill>
            <a:srgbClr val="F0EFE9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5824728" y="4261104"/>
            <a:ext cx="1280160" cy="402336"/>
          </a:xfrm>
          <a:prstGeom prst="rect">
            <a:avLst/>
          </a:prstGeom>
          <a:solidFill>
            <a:srgbClr val="F0EFE9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7104888" y="4261104"/>
            <a:ext cx="1645920" cy="402336"/>
          </a:xfrm>
          <a:prstGeom prst="rect">
            <a:avLst/>
          </a:prstGeom>
          <a:solidFill>
            <a:srgbClr val="F0EFE9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448056" y="430682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iCustoms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iCustoms</a:t>
            </a:r>
            <a:endParaRPr lang="en-US" sz="800"/>
          </a:p>
        </p:txBody>
      </p:sp>
      <p:sp>
        <p:nvSpPr>
          <p:cNvPr id="108" name="Shape 106"/>
          <p:cNvSpPr/>
          <p:nvPr/>
        </p:nvSpPr>
        <p:spPr>
          <a:xfrm>
            <a:off x="1865376" y="4370832"/>
            <a:ext cx="749808" cy="182880"/>
          </a:xfrm>
          <a:prstGeom prst="rect">
            <a:avLst/>
          </a:prstGeom>
          <a:solidFill>
            <a:srgbClr val="DCFCE7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1865376" y="437083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700"/>
          </a:p>
        </p:txBody>
      </p:sp>
      <p:sp>
        <p:nvSpPr>
          <p:cNvPr id="110" name="Text 108"/>
          <p:cNvSpPr/>
          <p:nvPr/>
        </p:nvSpPr>
        <p:spPr>
          <a:xfrm>
            <a:off x="2779776" y="43068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classification — 10,000 items/hour claimed. HS + confidence score.</a:t>
            </a:r>
            <a:endParaRPr lang="en-US" sz="800"/>
          </a:p>
        </p:txBody>
      </p:sp>
      <p:sp>
        <p:nvSpPr>
          <p:cNvPr id="111" name="Shape 109"/>
          <p:cNvSpPr/>
          <p:nvPr/>
        </p:nvSpPr>
        <p:spPr>
          <a:xfrm>
            <a:off x="5888736" y="4370832"/>
            <a:ext cx="1152144" cy="18288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5888736" y="4370832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· confidence</a:t>
            </a:r>
            <a:endParaRPr lang="en-US" sz="700"/>
          </a:p>
        </p:txBody>
      </p:sp>
      <p:sp>
        <p:nvSpPr>
          <p:cNvPr id="113" name="Text 111"/>
          <p:cNvSpPr/>
          <p:nvPr/>
        </p:nvSpPr>
        <p:spPr>
          <a:xfrm>
            <a:off x="7168896" y="430682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Multi-country</a:t>
            </a:r>
            <a:endParaRPr lang="en-US" sz="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800"/>
          </a:p>
        </p:txBody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5E3DB"/>
          </a:solidFill>
          <a:ln w="12700">
            <a:solidFill>
              <a:srgbClr val="E5E3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49286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Group × InfinitePL  ·  AI Customs &amp; Trade Intelligence  ·  ISE Microsoft Briefing  ·  March 2026</a:t>
            </a:r>
            <a:endParaRPr lang="en-US" sz="700"/>
          </a:p>
        </p:txBody>
      </p:sp>
      <p:sp>
        <p:nvSpPr>
          <p:cNvPr id="5" name="Text 3"/>
          <p:cNvSpPr/>
          <p:nvPr/>
        </p:nvSpPr>
        <p:spPr>
          <a:xfrm>
            <a:off x="384048" y="1645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 PRODUCT · PRODUCT 2</a:t>
            </a:r>
            <a:endParaRPr lang="en-US" sz="800"/>
          </a:p>
        </p:txBody>
      </p:sp>
      <p:sp>
        <p:nvSpPr>
          <p:cNvPr id="6" name="Text 4"/>
          <p:cNvSpPr/>
          <p:nvPr/>
        </p:nvSpPr>
        <p:spPr>
          <a:xfrm>
            <a:off x="384048" y="3474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Trade Intelligence Platform</a:t>
            </a:r>
            <a:endParaRPr lang="en-US" sz="2600"/>
          </a:p>
        </p:txBody>
      </p:sp>
      <p:sp>
        <p:nvSpPr>
          <p:cNvPr id="7" name="Text 5"/>
          <p:cNvSpPr/>
          <p:nvPr/>
        </p:nvSpPr>
        <p:spPr>
          <a:xfrm>
            <a:off x="384048" y="85953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data → trade flow intelligence. Helps buyers, re-exporters, and logistics operators understand product origins, routing, and sourcing options.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384048" y="1234440"/>
            <a:ext cx="8366760" cy="274320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" y="128930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Dependency: </a:t>
            </a:r>
            <a:endParaRPr lang="en-US" sz="850"/>
          </a:p>
        </p:txBody>
      </p:sp>
      <p:sp>
        <p:nvSpPr>
          <p:cNvPr id="10" name="Text 8"/>
          <p:cNvSpPr/>
          <p:nvPr/>
        </p:nvSpPr>
        <p:spPr>
          <a:xfrm>
            <a:off x="1298448" y="1289304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Product 1 in production and accumulating validated data. Build sequentially. Minimum dataset before starting: TBD</a:t>
            </a:r>
            <a:endParaRPr lang="en-US" sz="850"/>
          </a:p>
        </p:txBody>
      </p:sp>
      <p:sp>
        <p:nvSpPr>
          <p:cNvPr id="11" name="Shape 9"/>
          <p:cNvSpPr/>
          <p:nvPr/>
        </p:nvSpPr>
        <p:spPr>
          <a:xfrm>
            <a:off x="384048" y="1600200"/>
            <a:ext cx="8366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84048" y="1600200"/>
            <a:ext cx="45720" cy="86868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166420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SESSION — ASMA S. DAHER</a:t>
            </a:r>
            <a:endParaRPr lang="en-US" sz="700"/>
          </a:p>
        </p:txBody>
      </p:sp>
      <p:sp>
        <p:nvSpPr>
          <p:cNvPr id="14" name="Text 12"/>
          <p:cNvSpPr/>
          <p:nvPr/>
        </p:nvSpPr>
        <p:spPr>
          <a:xfrm>
            <a:off x="594360" y="184708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re-exporters do is use GCC as a hub to re-export something from a cheaper market — for example, India, they import saffron and then re-export it to some European country. That is a trade map that we can generate to B2B so that they can understand… somebody in Europe can directly buy from India if it is allowed."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384048" y="2596896"/>
            <a:ext cx="22860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12064" y="2816352"/>
            <a:ext cx="347472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2064" y="2816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932688" y="27249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932688" y="30175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/ cheaper market</a:t>
            </a:r>
            <a:endParaRPr lang="en-US" sz="850"/>
          </a:p>
        </p:txBody>
      </p:sp>
      <p:sp>
        <p:nvSpPr>
          <p:cNvPr id="20" name="Shape 18"/>
          <p:cNvSpPr/>
          <p:nvPr/>
        </p:nvSpPr>
        <p:spPr>
          <a:xfrm>
            <a:off x="3017520" y="2596896"/>
            <a:ext cx="22860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45536" y="2816352"/>
            <a:ext cx="347472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145536" y="2816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3566160" y="27249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Hub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3566160" y="30175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/ UAE re-export</a:t>
            </a:r>
            <a:endParaRPr lang="en-US" sz="850"/>
          </a:p>
        </p:txBody>
      </p:sp>
      <p:sp>
        <p:nvSpPr>
          <p:cNvPr id="25" name="Shape 23"/>
          <p:cNvSpPr/>
          <p:nvPr/>
        </p:nvSpPr>
        <p:spPr>
          <a:xfrm>
            <a:off x="5650992" y="2596896"/>
            <a:ext cx="22860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779008" y="2816352"/>
            <a:ext cx="34747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779008" y="2816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6199632" y="27249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6199632" y="30175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/ other markets</a:t>
            </a:r>
            <a:endParaRPr lang="en-US" sz="850"/>
          </a:p>
        </p:txBody>
      </p:sp>
      <p:sp>
        <p:nvSpPr>
          <p:cNvPr id="30" name="Shape 28"/>
          <p:cNvSpPr/>
          <p:nvPr/>
        </p:nvSpPr>
        <p:spPr>
          <a:xfrm>
            <a:off x="2670048" y="3035808"/>
            <a:ext cx="347472" cy="0"/>
          </a:xfrm>
          <a:prstGeom prst="line">
            <a:avLst/>
          </a:prstGeom>
          <a:noFill/>
          <a:ln w="15240">
            <a:solidFill>
              <a:srgbClr val="7373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0" y="29443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737373"/>
                </a:solidFill>
              </a:rPr>
              <a:t>→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2578608" y="325526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Cert. of origin</a:t>
            </a:r>
            <a:endParaRPr lang="en-US" sz="700"/>
          </a:p>
        </p:txBody>
      </p:sp>
      <p:sp>
        <p:nvSpPr>
          <p:cNvPr id="33" name="Shape 31"/>
          <p:cNvSpPr/>
          <p:nvPr/>
        </p:nvSpPr>
        <p:spPr>
          <a:xfrm>
            <a:off x="5303520" y="3035808"/>
            <a:ext cx="347472" cy="0"/>
          </a:xfrm>
          <a:prstGeom prst="line">
            <a:avLst/>
          </a:prstGeom>
          <a:noFill/>
          <a:ln w="15240">
            <a:solidFill>
              <a:srgbClr val="7373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376672" y="29443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737373"/>
                </a:solidFill>
              </a:rPr>
              <a:t>→</a:t>
            </a:r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5212080" y="325526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Bayan + declaration</a:t>
            </a:r>
            <a:endParaRPr lang="en-US" sz="700"/>
          </a:p>
        </p:txBody>
      </p:sp>
      <p:sp>
        <p:nvSpPr>
          <p:cNvPr id="36" name="Shape 34"/>
          <p:cNvSpPr/>
          <p:nvPr/>
        </p:nvSpPr>
        <p:spPr>
          <a:xfrm>
            <a:off x="7936992" y="2596896"/>
            <a:ext cx="822960" cy="86868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955280" y="2651760"/>
            <a:ext cx="768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5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600"/>
          </a:p>
          <a:p>
            <a:pPr marL="0" indent="0" algn="ctr">
              <a:buNone/>
            </a:pPr>
            <a:r>
              <a:rPr lang="en-US" sz="600" b="1" kern="0" spc="5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600"/>
          </a:p>
          <a:p>
            <a:pPr marL="0" indent="0" algn="ctr">
              <a:buNone/>
            </a:pPr>
            <a:r>
              <a:rPr lang="en-US" sz="600" b="1" kern="0" spc="5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600"/>
          </a:p>
        </p:txBody>
      </p:sp>
      <p:sp>
        <p:nvSpPr>
          <p:cNvPr id="38" name="Text 36"/>
          <p:cNvSpPr/>
          <p:nvPr/>
        </p:nvSpPr>
        <p:spPr>
          <a:xfrm>
            <a:off x="7955280" y="2990088"/>
            <a:ext cx="768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→ hub → destination enriched with HS codes, duty differentials, volume trends</a:t>
            </a:r>
            <a:endParaRPr lang="en-US" sz="650"/>
          </a:p>
        </p:txBody>
      </p:sp>
      <p:sp>
        <p:nvSpPr>
          <p:cNvPr id="39" name="Shape 37"/>
          <p:cNvSpPr/>
          <p:nvPr/>
        </p:nvSpPr>
        <p:spPr>
          <a:xfrm>
            <a:off x="384048" y="3584448"/>
            <a:ext cx="41605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8640" y="369417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(FROM PRODUCT 1)</a:t>
            </a:r>
            <a:endParaRPr lang="en-US" sz="700"/>
          </a:p>
        </p:txBody>
      </p:sp>
      <p:sp>
        <p:nvSpPr>
          <p:cNvPr id="41" name="Shape 39"/>
          <p:cNvSpPr/>
          <p:nvPr/>
        </p:nvSpPr>
        <p:spPr>
          <a:xfrm>
            <a:off x="566928" y="3968496"/>
            <a:ext cx="54864" cy="54864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76656" y="3931920"/>
            <a:ext cx="37490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records: HS code, origin, declared value, destination district, clearance date, duty paid</a:t>
            </a:r>
            <a:endParaRPr lang="en-US" sz="800"/>
          </a:p>
        </p:txBody>
      </p:sp>
      <p:sp>
        <p:nvSpPr>
          <p:cNvPr id="43" name="Shape 41"/>
          <p:cNvSpPr/>
          <p:nvPr/>
        </p:nvSpPr>
        <p:spPr>
          <a:xfrm>
            <a:off x="566928" y="4151376"/>
            <a:ext cx="54864" cy="54864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76656" y="4114800"/>
            <a:ext cx="37490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ZATCA-validated HS codes from Bayan — not predicted codes</a:t>
            </a:r>
            <a:endParaRPr lang="en-US" sz="800"/>
          </a:p>
        </p:txBody>
      </p:sp>
      <p:sp>
        <p:nvSpPr>
          <p:cNvPr id="45" name="Shape 43"/>
          <p:cNvSpPr/>
          <p:nvPr/>
        </p:nvSpPr>
        <p:spPr>
          <a:xfrm>
            <a:off x="566928" y="4334256"/>
            <a:ext cx="54864" cy="54864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76656" y="4297680"/>
            <a:ext cx="37490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history: Declared vs ZATCA-accepted</a:t>
            </a:r>
            <a:endParaRPr lang="en-US" sz="800"/>
          </a:p>
        </p:txBody>
      </p:sp>
      <p:sp>
        <p:nvSpPr>
          <p:cNvPr id="47" name="Shape 45"/>
          <p:cNvSpPr/>
          <p:nvPr/>
        </p:nvSpPr>
        <p:spPr>
          <a:xfrm>
            <a:off x="566928" y="4517136"/>
            <a:ext cx="54864" cy="54864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76656" y="4480560"/>
            <a:ext cx="37490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threshold before Stage 2: TBD</a:t>
            </a:r>
            <a:endParaRPr lang="en-US" sz="800"/>
          </a:p>
        </p:txBody>
      </p:sp>
      <p:sp>
        <p:nvSpPr>
          <p:cNvPr id="49" name="Shape 47"/>
          <p:cNvSpPr/>
          <p:nvPr/>
        </p:nvSpPr>
        <p:spPr>
          <a:xfrm>
            <a:off x="4690872" y="3584448"/>
            <a:ext cx="40690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855464" y="369417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(LICENSED)</a:t>
            </a:r>
            <a:endParaRPr lang="en-US" sz="700"/>
          </a:p>
        </p:txBody>
      </p:sp>
      <p:sp>
        <p:nvSpPr>
          <p:cNvPr id="51" name="Shape 49"/>
          <p:cNvSpPr/>
          <p:nvPr/>
        </p:nvSpPr>
        <p:spPr>
          <a:xfrm>
            <a:off x="4855464" y="3968496"/>
            <a:ext cx="54864" cy="54864"/>
          </a:xfrm>
          <a:prstGeom prst="rect">
            <a:avLst/>
          </a:prstGeom>
          <a:solidFill>
            <a:srgbClr val="737373"/>
          </a:solidFill>
          <a:ln w="12700">
            <a:solidFill>
              <a:srgbClr val="7373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965192" y="3931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Data Monitor: Multi-country customs data platform. Covers Stage 5 international layer. Cost: TBD</a:t>
            </a:r>
            <a:endParaRPr lang="en-US" sz="800"/>
          </a:p>
        </p:txBody>
      </p:sp>
      <p:sp>
        <p:nvSpPr>
          <p:cNvPr id="53" name="Shape 51"/>
          <p:cNvSpPr/>
          <p:nvPr/>
        </p:nvSpPr>
        <p:spPr>
          <a:xfrm>
            <a:off x="4855464" y="4206240"/>
            <a:ext cx="54864" cy="54864"/>
          </a:xfrm>
          <a:prstGeom prst="rect">
            <a:avLst/>
          </a:prstGeom>
          <a:solidFill>
            <a:srgbClr val="737373"/>
          </a:solidFill>
          <a:ln w="12700">
            <a:solidFill>
              <a:srgbClr val="7373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965192" y="416966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origin records: For re-export chain reconstruction. Source: TBD</a:t>
            </a:r>
            <a:endParaRPr lang="en-US" sz="800"/>
          </a:p>
        </p:txBody>
      </p:sp>
      <p:sp>
        <p:nvSpPr>
          <p:cNvPr id="55" name="Shape 53"/>
          <p:cNvSpPr/>
          <p:nvPr/>
        </p:nvSpPr>
        <p:spPr>
          <a:xfrm>
            <a:off x="4855464" y="4443984"/>
            <a:ext cx="54864" cy="54864"/>
          </a:xfrm>
          <a:prstGeom prst="rect">
            <a:avLst/>
          </a:prstGeom>
          <a:solidFill>
            <a:srgbClr val="737373"/>
          </a:solidFill>
          <a:ln w="12700">
            <a:solidFill>
              <a:srgbClr val="7373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965192" y="44074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tariff differentials: By HS code and origin. Available from GCC customs union.</a:t>
            </a:r>
            <a:endParaRPr lang="en-US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1597</Words>
  <Application>Microsoft Macintosh PowerPoint</Application>
  <PresentationFormat>On-screen Show (16:9)</PresentationFormat>
  <Paragraphs>284</Paragraphs>
  <Slides>12</Slides>
  <Notes>11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Customs Declaration Engine — Discovery Findings</dc:title>
  <dc:subject>PptxGenJS Presentation</dc:subject>
  <dc:creator>SPL Group / InfinitePL</dc:creator>
  <cp:lastModifiedBy>Asma Daher</cp:lastModifiedBy>
  <cp:revision>2</cp:revision>
  <dcterms:created xsi:type="dcterms:W3CDTF">2026-03-11T11:35:32Z</dcterms:created>
  <dcterms:modified xsi:type="dcterms:W3CDTF">2026-03-30T13:38:52Z</dcterms:modified>
</cp:coreProperties>
</file>